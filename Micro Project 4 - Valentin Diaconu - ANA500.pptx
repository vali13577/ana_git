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68"/>
  </p:normalViewPr>
  <p:slideViewPr>
    <p:cSldViewPr snapToGrid="0">
      <p:cViewPr varScale="1">
        <p:scale>
          <a:sx n="132" d="100"/>
          <a:sy n="132" d="100"/>
        </p:scale>
        <p:origin x="32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Logistic</c:v>
          </c:tx>
          <c:spPr>
            <a:solidFill>
              <a:srgbClr val="A6462E"/>
            </a:solidFill>
          </c:spPr>
          <c:invertIfNegative val="1"/>
          <c:dLbls>
            <c:numFmt formatCode="0.0" sourceLinked="0"/>
            <c:spPr>
              <a:noFill/>
              <a:ln>
                <a:noFill/>
              </a:ln>
              <a:effectLst/>
            </c:spPr>
            <c:txPr>
              <a:bodyPr anchorCtr="1"/>
              <a:lstStyle/>
              <a:p>
                <a:pPr>
                  <a:defRPr>
                    <a:latin typeface="Aptos"/>
                    <a:ea typeface="Bitstream Charter"/>
                    <a:cs typeface="Bitstream Charter"/>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Accuracy</c:v>
                </c:pt>
                <c:pt idx="1">
                  <c:v>Precision</c:v>
                </c:pt>
                <c:pt idx="2">
                  <c:v>Recall</c:v>
                </c:pt>
                <c:pt idx="3">
                  <c:v>F1</c:v>
                </c:pt>
                <c:pt idx="4">
                  <c:v>ROC-AUC</c:v>
                </c:pt>
              </c:strCache>
            </c:strRef>
          </c:cat>
          <c:val>
            <c:numRef>
              <c:f>'Chart Data'!$B$2:$B$6</c:f>
              <c:numCache>
                <c:formatCode>0"%"</c:formatCode>
                <c:ptCount val="5"/>
                <c:pt idx="0">
                  <c:v>81.09</c:v>
                </c:pt>
                <c:pt idx="1">
                  <c:v>57.16</c:v>
                </c:pt>
                <c:pt idx="2">
                  <c:v>85.88</c:v>
                </c:pt>
                <c:pt idx="3">
                  <c:v>68.64</c:v>
                </c:pt>
                <c:pt idx="4">
                  <c:v>91.08</c:v>
                </c:pt>
              </c:numCache>
            </c:numRef>
          </c:val>
          <c:extLst>
            <c:ext xmlns:c14="http://schemas.microsoft.com/office/drawing/2007/8/2/chart" uri="{6F2FDCE9-48DA-4B69-8628-5D25D57E5C99}">
              <c14:invertSolidFillFmt>
                <c14:spPr xmlns:c14="http://schemas.microsoft.com/office/drawing/2007/8/2/chart">
                  <a:solidFill>
                    <a:srgbClr val="F5F0E7"/>
                  </a:solidFill>
                </c14:spPr>
              </c14:invertSolidFillFmt>
            </c:ext>
            <c:ext xmlns:c16="http://schemas.microsoft.com/office/drawing/2014/chart" uri="{C3380CC4-5D6E-409C-BE32-E72D297353CC}">
              <c16:uniqueId val="{00000000-409A-4F4B-AC91-57F12D6E85E0}"/>
            </c:ext>
          </c:extLst>
        </c:ser>
        <c:ser>
          <c:idx val="1"/>
          <c:order val="1"/>
          <c:tx>
            <c:v>Dense MLP</c:v>
          </c:tx>
          <c:spPr>
            <a:solidFill>
              <a:srgbClr val="6F8D77"/>
            </a:solidFill>
          </c:spPr>
          <c:invertIfNegative val="1"/>
          <c:dLbls>
            <c:numFmt formatCode="0.0" sourceLinked="0"/>
            <c:spPr>
              <a:noFill/>
              <a:ln>
                <a:noFill/>
              </a:ln>
              <a:effectLst/>
            </c:spPr>
            <c:txPr>
              <a:bodyPr anchorCtr="1"/>
              <a:lstStyle/>
              <a:p>
                <a:pPr>
                  <a:defRPr>
                    <a:latin typeface="Aptos"/>
                    <a:ea typeface="Bitstream Charter"/>
                    <a:cs typeface="Bitstream Charter"/>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Data'!$C$2:$C$6</c:f>
              <c:strCache>
                <c:ptCount val="5"/>
                <c:pt idx="0">
                  <c:v>Accuracy</c:v>
                </c:pt>
                <c:pt idx="1">
                  <c:v>Precision</c:v>
                </c:pt>
                <c:pt idx="2">
                  <c:v>Recall</c:v>
                </c:pt>
                <c:pt idx="3">
                  <c:v>F1</c:v>
                </c:pt>
                <c:pt idx="4">
                  <c:v>ROC-AUC</c:v>
                </c:pt>
              </c:strCache>
            </c:strRef>
          </c:cat>
          <c:val>
            <c:numRef>
              <c:f>'Chart Data'!$D$2:$D$6</c:f>
              <c:numCache>
                <c:formatCode>0"%"</c:formatCode>
                <c:ptCount val="5"/>
                <c:pt idx="0">
                  <c:v>82.26</c:v>
                </c:pt>
                <c:pt idx="1">
                  <c:v>58.83</c:v>
                </c:pt>
                <c:pt idx="2">
                  <c:v>87.84</c:v>
                </c:pt>
                <c:pt idx="3">
                  <c:v>70.459999999999994</c:v>
                </c:pt>
                <c:pt idx="4">
                  <c:v>91.79</c:v>
                </c:pt>
              </c:numCache>
            </c:numRef>
          </c:val>
          <c:extLst>
            <c:ext xmlns:c14="http://schemas.microsoft.com/office/drawing/2007/8/2/chart" uri="{6F2FDCE9-48DA-4B69-8628-5D25D57E5C99}">
              <c14:invertSolidFillFmt>
                <c14:spPr xmlns:c14="http://schemas.microsoft.com/office/drawing/2007/8/2/chart">
                  <a:solidFill>
                    <a:srgbClr val="F5F0E7"/>
                  </a:solidFill>
                </c14:spPr>
              </c14:invertSolidFillFmt>
            </c:ext>
            <c:ext xmlns:c16="http://schemas.microsoft.com/office/drawing/2014/chart" uri="{C3380CC4-5D6E-409C-BE32-E72D297353CC}">
              <c16:uniqueId val="{00000001-409A-4F4B-AC91-57F12D6E85E0}"/>
            </c:ext>
          </c:extLst>
        </c:ser>
        <c:ser>
          <c:idx val="2"/>
          <c:order val="2"/>
          <c:tx>
            <c:v>Feature LSTM</c:v>
          </c:tx>
          <c:spPr>
            <a:solidFill>
              <a:srgbClr val="9B826C"/>
            </a:solidFill>
          </c:spPr>
          <c:invertIfNegative val="1"/>
          <c:dLbls>
            <c:numFmt formatCode="0.0" sourceLinked="0"/>
            <c:spPr>
              <a:noFill/>
              <a:ln>
                <a:noFill/>
              </a:ln>
              <a:effectLst/>
            </c:spPr>
            <c:txPr>
              <a:bodyPr anchorCtr="1"/>
              <a:lstStyle/>
              <a:p>
                <a:pPr>
                  <a:defRPr>
                    <a:latin typeface="Aptos"/>
                    <a:ea typeface="Bitstream Charter"/>
                    <a:cs typeface="Bitstream Charter"/>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Data'!$E$2:$E$6</c:f>
              <c:strCache>
                <c:ptCount val="5"/>
                <c:pt idx="0">
                  <c:v>Accuracy</c:v>
                </c:pt>
                <c:pt idx="1">
                  <c:v>Precision</c:v>
                </c:pt>
                <c:pt idx="2">
                  <c:v>Recall</c:v>
                </c:pt>
                <c:pt idx="3">
                  <c:v>F1</c:v>
                </c:pt>
                <c:pt idx="4">
                  <c:v>ROC-AUC</c:v>
                </c:pt>
              </c:strCache>
            </c:strRef>
          </c:cat>
          <c:val>
            <c:numRef>
              <c:f>'Chart Data'!$F$2:$F$6</c:f>
              <c:numCache>
                <c:formatCode>0"%"</c:formatCode>
                <c:ptCount val="5"/>
                <c:pt idx="0">
                  <c:v>73.47</c:v>
                </c:pt>
                <c:pt idx="1">
                  <c:v>46.84</c:v>
                </c:pt>
                <c:pt idx="2">
                  <c:v>75</c:v>
                </c:pt>
                <c:pt idx="3">
                  <c:v>57.67</c:v>
                </c:pt>
                <c:pt idx="4">
                  <c:v>81.8</c:v>
                </c:pt>
              </c:numCache>
            </c:numRef>
          </c:val>
          <c:extLst>
            <c:ext xmlns:c14="http://schemas.microsoft.com/office/drawing/2007/8/2/chart" uri="{6F2FDCE9-48DA-4B69-8628-5D25D57E5C99}">
              <c14:invertSolidFillFmt>
                <c14:spPr xmlns:c14="http://schemas.microsoft.com/office/drawing/2007/8/2/chart">
                  <a:solidFill>
                    <a:srgbClr val="F5F0E7"/>
                  </a:solidFill>
                </c14:spPr>
              </c14:invertSolidFillFmt>
            </c:ext>
            <c:ext xmlns:c16="http://schemas.microsoft.com/office/drawing/2014/chart" uri="{C3380CC4-5D6E-409C-BE32-E72D297353CC}">
              <c16:uniqueId val="{00000002-409A-4F4B-AC91-57F12D6E85E0}"/>
            </c:ext>
          </c:extLst>
        </c:ser>
        <c:dLbls>
          <c:dLblPos val="outEnd"/>
          <c:showLegendKey val="0"/>
          <c:showVal val="1"/>
          <c:showCatName val="0"/>
          <c:showSerName val="0"/>
          <c:showPercent val="0"/>
          <c:showBubbleSize val="0"/>
        </c:dLbls>
        <c:gapWidth val="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CFC4B5"/>
            </a:solidFill>
            <a:prstDash val="solid"/>
          </a:ln>
        </c:spPr>
        <c:txPr>
          <a:bodyPr anchorCtr="1"/>
          <a:lstStyle/>
          <a:p>
            <a:pPr>
              <a:defRPr>
                <a:solidFill>
                  <a:srgbClr val="6F6961"/>
                </a:solidFill>
                <a:latin typeface="Aptos"/>
                <a:ea typeface="Bitstream Charter"/>
                <a:cs typeface="Bitstream Charter"/>
              </a:defRPr>
            </a:pPr>
            <a:endParaRPr lang="en-US"/>
          </a:p>
        </c:txPr>
        <c:crossAx val="48672768"/>
        <c:crosses val="autoZero"/>
        <c:auto val="1"/>
        <c:lblAlgn val="ctr"/>
        <c:lblOffset val="100"/>
        <c:noMultiLvlLbl val="1"/>
      </c:catAx>
      <c:valAx>
        <c:axId val="48672768"/>
        <c:scaling>
          <c:orientation val="minMax"/>
        </c:scaling>
        <c:delete val="0"/>
        <c:axPos val="l"/>
        <c:numFmt formatCode="0&quot;%&quot;" sourceLinked="1"/>
        <c:majorTickMark val="none"/>
        <c:minorTickMark val="none"/>
        <c:tickLblPos val="nextTo"/>
        <c:spPr>
          <a:ln w="9525">
            <a:solidFill>
              <a:srgbClr val="CFC4B5"/>
            </a:solidFill>
            <a:prstDash val="solid"/>
          </a:ln>
        </c:spPr>
        <c:txPr>
          <a:bodyPr anchorCtr="1"/>
          <a:lstStyle/>
          <a:p>
            <a:pPr>
              <a:defRPr>
                <a:solidFill>
                  <a:srgbClr val="6F6961"/>
                </a:solidFill>
                <a:latin typeface="Aptos"/>
                <a:ea typeface="Bitstream Charter"/>
                <a:cs typeface="Bitstream Charter"/>
              </a:defRPr>
            </a:pPr>
            <a:endParaRPr lang="en-US"/>
          </a:p>
        </c:txPr>
        <c:crossAx val="48650112"/>
        <c:crosses val="autoZero"/>
        <c:crossBetween val="between"/>
      </c:valAx>
    </c:plotArea>
    <c:legend>
      <c:legendPos val="b"/>
      <c:overlay val="0"/>
      <c:txPr>
        <a:bodyPr anchorCtr="1"/>
        <a:lstStyle/>
        <a:p>
          <a:pPr>
            <a:defRPr>
              <a:latin typeface="Aptos"/>
              <a:ea typeface="Bitstream Charter"/>
              <a:cs typeface="Bitstream Charter"/>
            </a:defRPr>
          </a:pPr>
          <a:endParaRPr lang="en-US"/>
        </a:p>
      </c:txPr>
    </c:legend>
    <c:plotVisOnly val="1"/>
    <c:dispBlanksAs val="zero"/>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8902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Add the GitHub repository link after uploading the executed notebook.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disclosure prevents the LSTM feature order from being represented as a real time series.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Wording assisted by OpenAI ChatGPT and reviewed by the author (OpenAI,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prepared design follows the earlier Adult Income micro-project decisions.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Charts describe associations in the prepared historical sample and do not establish causal effects.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MLP trained for 14 epochs. LSTM reached the 40-epoch limit and required substantially more computation.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majority baseline achieved 75.91% accuracy but zero recall for the &gt;$50K class.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diagnostics use the untouched 4,881-record test set or the separate validation partition.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project should not support employment, credit, compensation, or eligibility decisions.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complete disclosure and references appear in the accompanying notebook.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28B9963-F9BB-4688-AF28-4E62AA3CAB56}"/>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4CE07D7E-4949-4544-9AFE-8F3F6F20CFE9}"/>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5A634AC8-3603-496C-8450-D25A148FDC4F}"/>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E0E1F90-4AD8-44EA-9B95-460D9BE13B8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75A42F57-8B49-411F-A3A8-AD7DDD3B184C}"/>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D2E57068-967E-46AE-8536-A24EA974924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E797A8C7-AC8E-4507-BBA1-A3C35FC6284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2E5ABFC6-6A6E-4329-ACFD-BF81659BB977}"/>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3AB509F-BB9D-4EB1-A4AC-8EB8FBCDD15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CA0F68E6-3008-43C3-BED6-B7930A6A9F0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0E7"/>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73E46D6-AE4A-4077-9015-895B2672AA52}"/>
              </a:ext>
            </a:extLst>
          </p:cNvPr>
          <p:cNvSpPr>
            <a:spLocks noGrp="1"/>
          </p:cNvSpPr>
          <p:nvPr/>
        </p:nvSpPr>
        <p:spPr>
          <a:xfrm>
            <a:off x="8321040" y="1188720"/>
            <a:ext cx="64008" cy="3529584"/>
          </a:xfrm>
          <a:prstGeom prst="rect">
            <a:avLst/>
          </a:prstGeom>
          <a:solidFill>
            <a:srgbClr val="A6462E"/>
          </a:solidFill>
          <a:ln w="0">
            <a:noFill/>
          </a:ln>
        </p:spPr>
        <p:txBody>
          <a:bodyPr/>
          <a:lstStyle/>
          <a:p>
            <a:endParaRPr lang="en-US"/>
          </a:p>
        </p:txBody>
      </p:sp>
      <p:sp>
        <p:nvSpPr>
          <p:cNvPr id="2" name="Rectangle 1">
            <a:extLst>
              <a:ext uri="{FF2B5EF4-FFF2-40B4-BE49-F238E27FC236}">
                <a16:creationId xmlns:a16="http://schemas.microsoft.com/office/drawing/2014/main" id="{630F9ED5-DF37-4EC7-857D-C6CB76B1B157}"/>
              </a:ext>
            </a:extLst>
          </p:cNvPr>
          <p:cNvSpPr>
            <a:spLocks noGrp="1"/>
          </p:cNvSpPr>
          <p:nvPr/>
        </p:nvSpPr>
        <p:spPr>
          <a:xfrm>
            <a:off x="685800" y="6419088"/>
            <a:ext cx="10817352" cy="10972"/>
          </a:xfrm>
          <a:prstGeom prst="rect">
            <a:avLst/>
          </a:prstGeom>
          <a:solidFill>
            <a:srgbClr val="CFC4B5"/>
          </a:solidFill>
          <a:ln w="0">
            <a:noFill/>
          </a:ln>
        </p:spPr>
        <p:txBody>
          <a:bodyPr/>
          <a:lstStyle/>
          <a:p>
            <a:endParaRPr lang="en-US"/>
          </a:p>
        </p:txBody>
      </p:sp>
      <p:sp>
        <p:nvSpPr>
          <p:cNvPr id="3" name="Rectangle 2">
            <a:extLst>
              <a:ext uri="{FF2B5EF4-FFF2-40B4-BE49-F238E27FC236}">
                <a16:creationId xmlns:a16="http://schemas.microsoft.com/office/drawing/2014/main" id="{BCFC9568-29FB-44FA-B17B-A077C94314E0}"/>
              </a:ext>
            </a:extLst>
          </p:cNvPr>
          <p:cNvSpPr>
            <a:spLocks noGrp="1"/>
          </p:cNvSpPr>
          <p:nvPr/>
        </p:nvSpPr>
        <p:spPr>
          <a:xfrm>
            <a:off x="685800" y="1005840"/>
            <a:ext cx="7040880" cy="1645920"/>
          </a:xfrm>
          <a:prstGeom prst="rect">
            <a:avLst/>
          </a:prstGeom>
          <a:noFill/>
          <a:ln w="0">
            <a:noFill/>
          </a:ln>
        </p:spPr>
        <p:txBody>
          <a:bodyPr wrap="square" anchor="ctr">
            <a:normAutofit/>
          </a:bodyPr>
          <a:lstStyle/>
          <a:p>
            <a:pPr algn="ctr">
              <a:defRPr sz="3450" b="1">
                <a:solidFill>
                  <a:srgbClr val="17324D"/>
                </a:solidFill>
                <a:latin typeface="Bitstream Charter"/>
                <a:ea typeface="Bitstream Charter"/>
                <a:cs typeface="Bitstream Charter"/>
              </a:defRPr>
            </a:pPr>
            <a:r>
              <a:rPr lang="en-US" sz="4000" b="1">
                <a:solidFill>
                  <a:srgbClr val="24211E"/>
                </a:solidFill>
                <a:latin typeface="Georgia"/>
                <a:ea typeface="Bitstream Charter"/>
                <a:cs typeface="Bitstream Charter"/>
              </a:rPr>
              <a:t>Adult Income Deep Learning Classification</a:t>
            </a:r>
          </a:p>
        </p:txBody>
      </p:sp>
      <p:sp>
        <p:nvSpPr>
          <p:cNvPr id="4" name="Rectangle 3">
            <a:extLst>
              <a:ext uri="{FF2B5EF4-FFF2-40B4-BE49-F238E27FC236}">
                <a16:creationId xmlns:a16="http://schemas.microsoft.com/office/drawing/2014/main" id="{B53F2A6E-DD73-441C-97E4-D9B3FD4A4511}"/>
              </a:ext>
            </a:extLst>
          </p:cNvPr>
          <p:cNvSpPr>
            <a:spLocks noGrp="1"/>
          </p:cNvSpPr>
          <p:nvPr/>
        </p:nvSpPr>
        <p:spPr>
          <a:xfrm>
            <a:off x="685800" y="438912"/>
            <a:ext cx="3931920" cy="219456"/>
          </a:xfrm>
          <a:prstGeom prst="rect">
            <a:avLst/>
          </a:prstGeom>
          <a:noFill/>
          <a:ln w="0">
            <a:noFill/>
          </a:ln>
        </p:spPr>
        <p:txBody>
          <a:bodyPr wrap="square" anchor="ctr">
            <a:normAutofit fontScale="62500" lnSpcReduction="20000"/>
          </a:bodyPr>
          <a:lstStyle/>
          <a:p>
            <a:r>
              <a:rPr lang="en-US" sz="1550" b="1">
                <a:solidFill>
                  <a:srgbClr val="A6462E"/>
                </a:solidFill>
                <a:latin typeface="Aptos"/>
              </a:rPr>
              <a:t>Micro-Project 4</a:t>
            </a:r>
          </a:p>
        </p:txBody>
      </p:sp>
      <p:sp>
        <p:nvSpPr>
          <p:cNvPr id="5" name="Rectangle 4">
            <a:extLst>
              <a:ext uri="{FF2B5EF4-FFF2-40B4-BE49-F238E27FC236}">
                <a16:creationId xmlns:a16="http://schemas.microsoft.com/office/drawing/2014/main" id="{17A956F2-7D8C-4267-8AC8-CAAB24AE29E3}"/>
              </a:ext>
            </a:extLst>
          </p:cNvPr>
          <p:cNvSpPr>
            <a:spLocks noGrp="1"/>
          </p:cNvSpPr>
          <p:nvPr/>
        </p:nvSpPr>
        <p:spPr>
          <a:xfrm>
            <a:off x="685800" y="3017520"/>
            <a:ext cx="6766560" cy="530352"/>
          </a:xfrm>
          <a:prstGeom prst="rect">
            <a:avLst/>
          </a:prstGeom>
          <a:noFill/>
          <a:ln w="0">
            <a:noFill/>
          </a:ln>
        </p:spPr>
        <p:txBody>
          <a:bodyPr wrap="square" anchor="ctr">
            <a:normAutofit/>
          </a:bodyPr>
          <a:lstStyle/>
          <a:p>
            <a:pPr algn="ctr">
              <a:defRPr sz="1800" b="0">
                <a:solidFill>
                  <a:srgbClr val="1C2733"/>
                </a:solidFill>
                <a:latin typeface="Bitstream Charter"/>
                <a:ea typeface="Bitstream Charter"/>
                <a:cs typeface="Bitstream Charter"/>
              </a:defRPr>
            </a:pPr>
            <a:r>
              <a:rPr lang="en-US" sz="1800" b="0">
                <a:solidFill>
                  <a:srgbClr val="6F6961"/>
                </a:solidFill>
                <a:latin typeface="Aptos"/>
                <a:ea typeface="Bitstream Charter"/>
                <a:cs typeface="Bitstream Charter"/>
              </a:rPr>
              <a:t>Dense Neural Network and Feature-Sequence LSTM</a:t>
            </a:r>
          </a:p>
        </p:txBody>
      </p:sp>
      <p:sp>
        <p:nvSpPr>
          <p:cNvPr id="6" name="Rectangle 5">
            <a:extLst>
              <a:ext uri="{FF2B5EF4-FFF2-40B4-BE49-F238E27FC236}">
                <a16:creationId xmlns:a16="http://schemas.microsoft.com/office/drawing/2014/main" id="{57934758-BB2B-4CC6-93DD-2BD33C6BFE93}"/>
              </a:ext>
            </a:extLst>
          </p:cNvPr>
          <p:cNvSpPr>
            <a:spLocks noGrp="1"/>
          </p:cNvSpPr>
          <p:nvPr/>
        </p:nvSpPr>
        <p:spPr>
          <a:xfrm>
            <a:off x="685800" y="3886200"/>
            <a:ext cx="6035040" cy="384048"/>
          </a:xfrm>
          <a:prstGeom prst="rect">
            <a:avLst/>
          </a:prstGeom>
          <a:noFill/>
          <a:ln w="0">
            <a:noFill/>
          </a:ln>
        </p:spPr>
        <p:txBody>
          <a:bodyPr wrap="square" anchor="ctr">
            <a:normAutofit/>
          </a:bodyPr>
          <a:lstStyle/>
          <a:p>
            <a:pPr algn="ctr">
              <a:defRPr sz="1500" b="0">
                <a:solidFill>
                  <a:srgbClr val="5E6B75"/>
                </a:solidFill>
                <a:latin typeface="Bitstream Charter"/>
                <a:ea typeface="Bitstream Charter"/>
                <a:cs typeface="Bitstream Charter"/>
              </a:defRPr>
            </a:pPr>
            <a:r>
              <a:rPr lang="en-US" sz="1450" b="0">
                <a:solidFill>
                  <a:srgbClr val="A6462E"/>
                </a:solidFill>
                <a:latin typeface="Aptos"/>
                <a:ea typeface="Bitstream Charter"/>
                <a:cs typeface="Bitstream Charter"/>
              </a:rPr>
              <a:t>Repository link: add after GitHub upload</a:t>
            </a:r>
          </a:p>
        </p:txBody>
      </p:sp>
      <p:sp>
        <p:nvSpPr>
          <p:cNvPr id="7" name="Rectangle 6">
            <a:extLst>
              <a:ext uri="{FF2B5EF4-FFF2-40B4-BE49-F238E27FC236}">
                <a16:creationId xmlns:a16="http://schemas.microsoft.com/office/drawing/2014/main" id="{F20F50D7-7FC8-4397-87DE-58890593FC52}"/>
              </a:ext>
            </a:extLst>
          </p:cNvPr>
          <p:cNvSpPr>
            <a:spLocks noGrp="1"/>
          </p:cNvSpPr>
          <p:nvPr/>
        </p:nvSpPr>
        <p:spPr>
          <a:xfrm>
            <a:off x="685800" y="5943600"/>
            <a:ext cx="3657600" cy="201168"/>
          </a:xfrm>
          <a:prstGeom prst="rect">
            <a:avLst/>
          </a:prstGeom>
          <a:noFill/>
          <a:ln w="0">
            <a:noFill/>
          </a:ln>
        </p:spPr>
        <p:txBody>
          <a:bodyPr wrap="square" anchor="ctr">
            <a:normAutofit fontScale="65906" lnSpcReduction="20000"/>
          </a:bodyPr>
          <a:lstStyle/>
          <a:p>
            <a:pPr algn="ctr">
              <a:defRPr sz="1725" b="1">
                <a:solidFill>
                  <a:srgbClr val="FFFFFF"/>
                </a:solidFill>
                <a:latin typeface="Bitstream Charter"/>
                <a:ea typeface="Bitstream Charter"/>
                <a:cs typeface="Bitstream Charter"/>
              </a:defRPr>
            </a:pPr>
            <a:r>
              <a:rPr lang="en-US" sz="1200" b="1">
                <a:solidFill>
                  <a:srgbClr val="6F6961"/>
                </a:solidFill>
                <a:latin typeface="Aptos"/>
                <a:ea typeface="Bitstream Charter"/>
                <a:cs typeface="Bitstream Charter"/>
              </a:rPr>
              <a:t>Valentin Diaconu</a:t>
            </a:r>
          </a:p>
        </p:txBody>
      </p:sp>
      <p:sp>
        <p:nvSpPr>
          <p:cNvPr id="8" name="Rectangle 7">
            <a:extLst>
              <a:ext uri="{FF2B5EF4-FFF2-40B4-BE49-F238E27FC236}">
                <a16:creationId xmlns:a16="http://schemas.microsoft.com/office/drawing/2014/main" id="{2B0495CB-80F2-4F5F-9B26-601097D0BDDE}"/>
              </a:ext>
            </a:extLst>
          </p:cNvPr>
          <p:cNvSpPr>
            <a:spLocks noGrp="1"/>
          </p:cNvSpPr>
          <p:nvPr/>
        </p:nvSpPr>
        <p:spPr>
          <a:xfrm>
            <a:off x="685800" y="6181344"/>
            <a:ext cx="3657600" cy="201168"/>
          </a:xfrm>
          <a:prstGeom prst="rect">
            <a:avLst/>
          </a:prstGeom>
          <a:noFill/>
          <a:ln w="0">
            <a:noFill/>
          </a:ln>
        </p:spPr>
        <p:txBody>
          <a:bodyPr wrap="square" anchor="ctr">
            <a:normAutofit fontScale="70000" lnSpcReduction="20000"/>
          </a:bodyPr>
          <a:lstStyle/>
          <a:p>
            <a:pPr algn="ctr">
              <a:defRPr sz="1275" b="0">
                <a:solidFill>
                  <a:srgbClr val="D7E4EC"/>
                </a:solidFill>
                <a:latin typeface="Bitstream Charter"/>
                <a:ea typeface="Bitstream Charter"/>
                <a:cs typeface="Bitstream Charter"/>
              </a:defRPr>
            </a:pPr>
            <a:r>
              <a:rPr lang="en-US" sz="1200" b="0">
                <a:solidFill>
                  <a:srgbClr val="6F6961"/>
                </a:solidFill>
                <a:latin typeface="Aptos"/>
                <a:ea typeface="Bitstream Charter"/>
                <a:cs typeface="Bitstream Charter"/>
              </a:rPr>
              <a:t>October 11, 2026</a:t>
            </a:r>
          </a:p>
        </p:txBody>
      </p:sp>
      <p:sp>
        <p:nvSpPr>
          <p:cNvPr id="10" name="Rectangle 9"/>
          <p:cNvSpPr/>
          <p:nvPr/>
        </p:nvSpPr>
        <p:spPr>
          <a:xfrm>
            <a:off x="685800" y="2761488"/>
            <a:ext cx="6903720" cy="10972"/>
          </a:xfrm>
          <a:prstGeom prst="rect">
            <a:avLst/>
          </a:prstGeom>
          <a:solidFill>
            <a:srgbClr val="CFC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41080" y="1252728"/>
            <a:ext cx="2103120" cy="201168"/>
          </a:xfrm>
          <a:prstGeom prst="rect">
            <a:avLst/>
          </a:prstGeom>
          <a:noFill/>
        </p:spPr>
        <p:txBody>
          <a:bodyPr wrap="square" lIns="0" tIns="0" rIns="0" bIns="0" anchor="ctr">
            <a:spAutoFit/>
          </a:bodyPr>
          <a:lstStyle/>
          <a:p>
            <a:pPr algn="l"/>
            <a:r>
              <a:rPr sz="1650" b="0">
                <a:solidFill>
                  <a:srgbClr val="6F6961"/>
                </a:solidFill>
                <a:latin typeface="Aptos"/>
              </a:rPr>
              <a:t>DATASET</a:t>
            </a:r>
          </a:p>
        </p:txBody>
      </p:sp>
      <p:sp>
        <p:nvSpPr>
          <p:cNvPr id="12" name="TextBox 11"/>
          <p:cNvSpPr txBox="1"/>
          <p:nvPr/>
        </p:nvSpPr>
        <p:spPr>
          <a:xfrm>
            <a:off x="8641080" y="1572768"/>
            <a:ext cx="2468880" cy="566928"/>
          </a:xfrm>
          <a:prstGeom prst="rect">
            <a:avLst/>
          </a:prstGeom>
          <a:noFill/>
        </p:spPr>
        <p:txBody>
          <a:bodyPr wrap="square" lIns="0" tIns="0" rIns="0" bIns="0" anchor="ctr">
            <a:spAutoFit/>
          </a:bodyPr>
          <a:lstStyle/>
          <a:p>
            <a:pPr algn="l"/>
            <a:r>
              <a:rPr sz="2300" b="0">
                <a:solidFill>
                  <a:srgbClr val="24211E"/>
                </a:solidFill>
                <a:latin typeface="Georgia"/>
              </a:rPr>
              <a:t>Adult Income</a:t>
            </a:r>
          </a:p>
        </p:txBody>
      </p:sp>
      <p:sp>
        <p:nvSpPr>
          <p:cNvPr id="13" name="TextBox 12"/>
          <p:cNvSpPr txBox="1"/>
          <p:nvPr/>
        </p:nvSpPr>
        <p:spPr>
          <a:xfrm>
            <a:off x="8641080" y="2487168"/>
            <a:ext cx="2103120" cy="201168"/>
          </a:xfrm>
          <a:prstGeom prst="rect">
            <a:avLst/>
          </a:prstGeom>
          <a:noFill/>
        </p:spPr>
        <p:txBody>
          <a:bodyPr wrap="square" lIns="0" tIns="0" rIns="0" bIns="0" anchor="ctr">
            <a:spAutoFit/>
          </a:bodyPr>
          <a:lstStyle/>
          <a:p>
            <a:pPr algn="l"/>
            <a:r>
              <a:rPr sz="1650" b="0">
                <a:solidFill>
                  <a:srgbClr val="6F6961"/>
                </a:solidFill>
                <a:latin typeface="Aptos"/>
              </a:rPr>
              <a:t>DELIVERABLE</a:t>
            </a:r>
          </a:p>
        </p:txBody>
      </p:sp>
      <p:sp>
        <p:nvSpPr>
          <p:cNvPr id="14" name="TextBox 13"/>
          <p:cNvSpPr txBox="1"/>
          <p:nvPr/>
        </p:nvSpPr>
        <p:spPr>
          <a:xfrm>
            <a:off x="8641080" y="2807208"/>
            <a:ext cx="2560320" cy="731520"/>
          </a:xfrm>
          <a:prstGeom prst="rect">
            <a:avLst/>
          </a:prstGeom>
          <a:noFill/>
        </p:spPr>
        <p:txBody>
          <a:bodyPr wrap="square" lIns="0" tIns="0" rIns="0" bIns="0" anchor="ctr">
            <a:spAutoFit/>
          </a:bodyPr>
          <a:lstStyle/>
          <a:p>
            <a:pPr algn="l"/>
            <a:r>
              <a:rPr sz="2000" b="0">
                <a:solidFill>
                  <a:srgbClr val="24211E"/>
                </a:solidFill>
                <a:latin typeface="Georgia"/>
              </a:rPr>
              <a:t>Classification modeling</a:t>
            </a:r>
          </a:p>
        </p:txBody>
      </p:sp>
      <p:sp>
        <p:nvSpPr>
          <p:cNvPr id="15" name="TextBox 14"/>
          <p:cNvSpPr txBox="1"/>
          <p:nvPr/>
        </p:nvSpPr>
        <p:spPr>
          <a:xfrm>
            <a:off x="8641080" y="3977639"/>
            <a:ext cx="2103120" cy="201168"/>
          </a:xfrm>
          <a:prstGeom prst="rect">
            <a:avLst/>
          </a:prstGeom>
          <a:noFill/>
        </p:spPr>
        <p:txBody>
          <a:bodyPr wrap="square" lIns="0" tIns="0" rIns="0" bIns="0" anchor="ctr">
            <a:spAutoFit/>
          </a:bodyPr>
          <a:lstStyle/>
          <a:p>
            <a:pPr algn="l"/>
            <a:r>
              <a:rPr sz="1650" b="0">
                <a:solidFill>
                  <a:srgbClr val="6F6961"/>
                </a:solidFill>
                <a:latin typeface="Aptos"/>
              </a:rPr>
              <a:t>AUTHOR</a:t>
            </a:r>
          </a:p>
        </p:txBody>
      </p:sp>
      <p:sp>
        <p:nvSpPr>
          <p:cNvPr id="16" name="TextBox 15"/>
          <p:cNvSpPr txBox="1"/>
          <p:nvPr/>
        </p:nvSpPr>
        <p:spPr>
          <a:xfrm>
            <a:off x="8641080" y="4288536"/>
            <a:ext cx="2560320" cy="274320"/>
          </a:xfrm>
          <a:prstGeom prst="rect">
            <a:avLst/>
          </a:prstGeom>
          <a:noFill/>
        </p:spPr>
        <p:txBody>
          <a:bodyPr wrap="square" lIns="0" tIns="0" rIns="0" bIns="0" anchor="ctr">
            <a:spAutoFit/>
          </a:bodyPr>
          <a:lstStyle/>
          <a:p>
            <a:pPr algn="l"/>
            <a:r>
              <a:rPr sz="1650" b="0">
                <a:solidFill>
                  <a:srgbClr val="24211E"/>
                </a:solidFill>
                <a:latin typeface="Aptos"/>
              </a:rPr>
              <a:t>Valentin Diaconu</a:t>
            </a:r>
          </a:p>
        </p:txBody>
      </p:sp>
      <p:sp>
        <p:nvSpPr>
          <p:cNvPr id="17" name="TextBox 16"/>
          <p:cNvSpPr txBox="1"/>
          <p:nvPr/>
        </p:nvSpPr>
        <p:spPr>
          <a:xfrm>
            <a:off x="685800" y="6510528"/>
            <a:ext cx="4937760" cy="164592"/>
          </a:xfrm>
          <a:prstGeom prst="rect">
            <a:avLst/>
          </a:prstGeom>
          <a:noFill/>
        </p:spPr>
        <p:txBody>
          <a:bodyPr wrap="square" lIns="0" tIns="0" rIns="0" bIns="0" anchor="ctr">
            <a:spAutoFit/>
          </a:bodyPr>
          <a:lstStyle/>
          <a:p>
            <a:pPr algn="l"/>
            <a:r>
              <a:rPr sz="900" b="0">
                <a:solidFill>
                  <a:srgbClr val="6F6961"/>
                </a:solidFill>
                <a:latin typeface="Aptos"/>
              </a:rPr>
              <a:t>ADULT INCOME CLASSIFICATION</a:t>
            </a:r>
          </a:p>
        </p:txBody>
      </p:sp>
      <p:sp>
        <p:nvSpPr>
          <p:cNvPr id="18" name="TextBox 17"/>
          <p:cNvSpPr txBox="1"/>
          <p:nvPr/>
        </p:nvSpPr>
        <p:spPr>
          <a:xfrm>
            <a:off x="11018520" y="6492240"/>
            <a:ext cx="484632" cy="182880"/>
          </a:xfrm>
          <a:prstGeom prst="rect">
            <a:avLst/>
          </a:prstGeom>
          <a:noFill/>
        </p:spPr>
        <p:txBody>
          <a:bodyPr wrap="square" lIns="0" tIns="0" rIns="0" bIns="0" anchor="ctr">
            <a:spAutoFit/>
          </a:bodyPr>
          <a:lstStyle/>
          <a:p>
            <a:pPr algn="r"/>
            <a:r>
              <a:rPr sz="980" b="0">
                <a:solidFill>
                  <a:srgbClr val="A6462E"/>
                </a:solidFill>
                <a:latin typeface="Aptos"/>
              </a:rPr>
              <a:t>01</a:t>
            </a:r>
          </a:p>
        </p:txBody>
      </p:sp>
    </p:spTree>
    <p:extLst>
      <p:ext uri="{BB962C8B-B14F-4D97-AF65-F5344CB8AC3E}">
        <p14:creationId xmlns:p14="http://schemas.microsoft.com/office/powerpoint/2010/main" val="12145728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0E7"/>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576270D-D82F-4CC1-BBF5-16E856F1531F}"/>
              </a:ext>
            </a:extLst>
          </p:cNvPr>
          <p:cNvSpPr>
            <a:spLocks noGrp="1"/>
          </p:cNvSpPr>
          <p:nvPr/>
        </p:nvSpPr>
        <p:spPr>
          <a:xfrm>
            <a:off x="0" y="0"/>
            <a:ext cx="12192000" cy="876300"/>
          </a:xfrm>
          <a:prstGeom prst="rect">
            <a:avLst/>
          </a:prstGeom>
          <a:solidFill>
            <a:srgbClr val="F5F0E7"/>
          </a:solidFill>
          <a:ln w="0">
            <a:noFill/>
          </a:ln>
        </p:spPr>
        <p:txBody>
          <a:bodyPr/>
          <a:lstStyle/>
          <a:p>
            <a:endParaRPr lang="en-US"/>
          </a:p>
        </p:txBody>
      </p:sp>
      <p:sp>
        <p:nvSpPr>
          <p:cNvPr id="2" name="Rectangle 1">
            <a:extLst>
              <a:ext uri="{FF2B5EF4-FFF2-40B4-BE49-F238E27FC236}">
                <a16:creationId xmlns:a16="http://schemas.microsoft.com/office/drawing/2014/main" id="{0ABD6C34-0664-4FF1-BD40-CE3DB1A99B02}"/>
              </a:ext>
            </a:extLst>
          </p:cNvPr>
          <p:cNvSpPr>
            <a:spLocks noGrp="1"/>
          </p:cNvSpPr>
          <p:nvPr/>
        </p:nvSpPr>
        <p:spPr>
          <a:xfrm>
            <a:off x="685800" y="722376"/>
            <a:ext cx="10058400" cy="585216"/>
          </a:xfrm>
          <a:prstGeom prst="rect">
            <a:avLst/>
          </a:prstGeom>
          <a:noFill/>
          <a:ln w="0">
            <a:noFill/>
          </a:ln>
        </p:spPr>
        <p:txBody>
          <a:bodyPr wrap="square" anchor="ctr">
            <a:normAutofit lnSpcReduction="10000"/>
          </a:bodyPr>
          <a:lstStyle/>
          <a:p>
            <a:pPr algn="l">
              <a:defRPr sz="2550" b="1">
                <a:solidFill>
                  <a:srgbClr val="FFFFFF"/>
                </a:solidFill>
                <a:latin typeface="Bitstream Charter"/>
                <a:ea typeface="Bitstream Charter"/>
                <a:cs typeface="Bitstream Charter"/>
              </a:defRPr>
            </a:pPr>
            <a:r>
              <a:rPr lang="en-US" sz="3300" b="1">
                <a:solidFill>
                  <a:srgbClr val="24211E"/>
                </a:solidFill>
                <a:latin typeface="Georgia"/>
                <a:ea typeface="Bitstream Charter"/>
                <a:cs typeface="Bitstream Charter"/>
              </a:rPr>
              <a:t>Methodological Disclosure</a:t>
            </a:r>
          </a:p>
        </p:txBody>
      </p:sp>
      <p:sp>
        <p:nvSpPr>
          <p:cNvPr id="3" name="Rectangle 2">
            <a:extLst>
              <a:ext uri="{FF2B5EF4-FFF2-40B4-BE49-F238E27FC236}">
                <a16:creationId xmlns:a16="http://schemas.microsoft.com/office/drawing/2014/main" id="{C6CA3383-074F-4D22-BB0D-8B29D21F894D}"/>
              </a:ext>
            </a:extLst>
          </p:cNvPr>
          <p:cNvSpPr>
            <a:spLocks noGrp="1"/>
          </p:cNvSpPr>
          <p:nvPr/>
        </p:nvSpPr>
        <p:spPr>
          <a:xfrm>
            <a:off x="685800" y="402336"/>
            <a:ext cx="3474720" cy="219456"/>
          </a:xfrm>
          <a:prstGeom prst="rect">
            <a:avLst/>
          </a:prstGeom>
          <a:noFill/>
          <a:ln w="0">
            <a:noFill/>
          </a:ln>
        </p:spPr>
        <p:txBody>
          <a:bodyPr wrap="square" anchor="ctr">
            <a:normAutofit fontScale="62500" lnSpcReduction="20000"/>
          </a:bodyPr>
          <a:lstStyle/>
          <a:p>
            <a:r>
              <a:rPr lang="en-US" sz="1650" b="1">
                <a:solidFill>
                  <a:srgbClr val="A6462E"/>
                </a:solidFill>
                <a:latin typeface="Aptos"/>
              </a:rPr>
              <a:t>SCOPE</a:t>
            </a:r>
          </a:p>
        </p:txBody>
      </p:sp>
      <p:sp>
        <p:nvSpPr>
          <p:cNvPr id="4" name="Rounded Rectangle 3">
            <a:extLst>
              <a:ext uri="{FF2B5EF4-FFF2-40B4-BE49-F238E27FC236}">
                <a16:creationId xmlns:a16="http://schemas.microsoft.com/office/drawing/2014/main" id="{316EC69C-2817-4463-BCA7-7D2578161757}"/>
              </a:ext>
            </a:extLst>
          </p:cNvPr>
          <p:cNvSpPr>
            <a:spLocks noGrp="1"/>
          </p:cNvSpPr>
          <p:nvPr/>
        </p:nvSpPr>
        <p:spPr>
          <a:xfrm>
            <a:off x="666750" y="1824551"/>
            <a:ext cx="10858500" cy="3317081"/>
          </a:xfrm>
          <a:prstGeom prst="roundRect">
            <a:avLst>
              <a:gd name="adj" fmla="val 2010"/>
            </a:avLst>
          </a:prstGeom>
          <a:solidFill>
            <a:srgbClr val="F1E2D7"/>
          </a:solidFill>
          <a:ln w="0">
            <a:noFill/>
          </a:ln>
        </p:spPr>
        <p:txBody>
          <a:bodyPr wrap="square"/>
          <a:lstStyle/>
          <a:p>
            <a:endParaRPr lang="en-US"/>
          </a:p>
        </p:txBody>
      </p:sp>
      <p:sp>
        <p:nvSpPr>
          <p:cNvPr id="5" name="Rectangle 4">
            <a:extLst>
              <a:ext uri="{FF2B5EF4-FFF2-40B4-BE49-F238E27FC236}">
                <a16:creationId xmlns:a16="http://schemas.microsoft.com/office/drawing/2014/main" id="{77455D7D-BE4B-4AED-9AF3-5047C77FDCA8}"/>
              </a:ext>
            </a:extLst>
          </p:cNvPr>
          <p:cNvSpPr>
            <a:spLocks noGrp="1"/>
          </p:cNvSpPr>
          <p:nvPr/>
        </p:nvSpPr>
        <p:spPr>
          <a:xfrm>
            <a:off x="990600" y="2074582"/>
            <a:ext cx="10210800" cy="383381"/>
          </a:xfrm>
          <a:prstGeom prst="rect">
            <a:avLst/>
          </a:prstGeom>
          <a:noFill/>
          <a:ln w="0">
            <a:noFill/>
          </a:ln>
        </p:spPr>
        <p:txBody>
          <a:bodyPr wrap="square" anchor="ctr">
            <a:normAutofit fontScale="92500" lnSpcReduction="10000"/>
          </a:bodyPr>
          <a:lstStyle>
            <a:defPPr algn="ctr">
              <a:defRPr sz="2250" b="1">
                <a:solidFill>
                  <a:srgbClr val="A6462E"/>
                </a:solidFill>
                <a:latin typeface="Aptos"/>
                <a:ea typeface="Bitstream Charter"/>
                <a:cs typeface="Bitstream Charter"/>
              </a:defRPr>
            </a:defPPr>
          </a:lstStyle>
          <a:p>
            <a:pPr algn="ctr">
              <a:defRPr sz="2250" b="1">
                <a:solidFill>
                  <a:srgbClr val="A6462E"/>
                </a:solidFill>
                <a:latin typeface="Aptos"/>
                <a:ea typeface="Bitstream Charter"/>
                <a:cs typeface="Bitstream Charter"/>
              </a:defRPr>
            </a:pPr>
            <a:r>
              <a:rPr lang="en-US" sz="2250" b="1">
                <a:solidFill>
                  <a:srgbClr val="24211E"/>
                </a:solidFill>
                <a:latin typeface="Aptos"/>
                <a:ea typeface="Bitstream Charter"/>
                <a:cs typeface="Bitstream Charter"/>
              </a:rPr>
              <a:t>Adult Income has no time variable</a:t>
            </a:r>
          </a:p>
        </p:txBody>
      </p:sp>
      <p:sp>
        <p:nvSpPr>
          <p:cNvPr id="6" name="Rectangle 5">
            <a:extLst>
              <a:ext uri="{FF2B5EF4-FFF2-40B4-BE49-F238E27FC236}">
                <a16:creationId xmlns:a16="http://schemas.microsoft.com/office/drawing/2014/main" id="{0ABB9CCC-F78C-46A0-BA28-D70D88235F19}"/>
              </a:ext>
            </a:extLst>
          </p:cNvPr>
          <p:cNvSpPr>
            <a:spLocks noGrp="1"/>
          </p:cNvSpPr>
          <p:nvPr/>
        </p:nvSpPr>
        <p:spPr>
          <a:xfrm>
            <a:off x="1238250" y="2624651"/>
            <a:ext cx="9715500" cy="766762"/>
          </a:xfrm>
          <a:prstGeom prst="rect">
            <a:avLst/>
          </a:prstGeom>
          <a:noFill/>
          <a:ln w="0">
            <a:noFill/>
          </a:ln>
        </p:spPr>
        <p:txBody>
          <a:bodyPr wrap="square" anchor="ctr">
            <a:normAutofit/>
          </a:bodyPr>
          <a:lstStyle>
            <a:defPPr algn="ctr">
              <a:defRPr sz="1875" b="0">
                <a:solidFill>
                  <a:srgbClr val="24211E"/>
                </a:solidFill>
                <a:latin typeface="Aptos"/>
                <a:ea typeface="Bitstream Charter"/>
                <a:cs typeface="Bitstream Charter"/>
              </a:defRPr>
            </a:defPPr>
          </a:lstStyle>
          <a:p>
            <a:pPr algn="ctr">
              <a:defRPr sz="1875" b="0">
                <a:solidFill>
                  <a:srgbClr val="24211E"/>
                </a:solidFill>
                <a:latin typeface="Aptos"/>
                <a:ea typeface="Bitstream Charter"/>
                <a:cs typeface="Bitstream Charter"/>
              </a:defRPr>
            </a:pPr>
            <a:r>
              <a:rPr lang="en-US" sz="1875" b="0">
                <a:solidFill>
                  <a:srgbClr val="24211E"/>
                </a:solidFill>
                <a:latin typeface="Aptos"/>
                <a:ea typeface="Bitstream Charter"/>
                <a:cs typeface="Bitstream Charter"/>
              </a:rPr>
              <a:t>The dataset is cross-sectional. Each row describes a different adult, so the project performs deep learning classification rather than genuine time-series forecasting.</a:t>
            </a:r>
          </a:p>
        </p:txBody>
      </p:sp>
      <p:sp>
        <p:nvSpPr>
          <p:cNvPr id="7" name="Rectangle 6">
            <a:extLst>
              <a:ext uri="{FF2B5EF4-FFF2-40B4-BE49-F238E27FC236}">
                <a16:creationId xmlns:a16="http://schemas.microsoft.com/office/drawing/2014/main" id="{05ABFB74-AB11-44FD-A495-7C998CDE3D07}"/>
              </a:ext>
            </a:extLst>
          </p:cNvPr>
          <p:cNvSpPr>
            <a:spLocks noGrp="1"/>
          </p:cNvSpPr>
          <p:nvPr/>
        </p:nvSpPr>
        <p:spPr>
          <a:xfrm>
            <a:off x="1238250" y="3574770"/>
            <a:ext cx="9715500" cy="1050131"/>
          </a:xfrm>
          <a:prstGeom prst="rect">
            <a:avLst/>
          </a:prstGeom>
          <a:noFill/>
          <a:ln w="0">
            <a:noFill/>
          </a:ln>
        </p:spPr>
        <p:txBody>
          <a:bodyPr wrap="square" anchor="ctr">
            <a:normAutofit/>
          </a:bodyPr>
          <a:lstStyle>
            <a:defPPr algn="ctr">
              <a:defRPr sz="1650" b="0">
                <a:solidFill>
                  <a:srgbClr val="24211E"/>
                </a:solidFill>
                <a:latin typeface="Aptos"/>
                <a:ea typeface="Bitstream Charter"/>
                <a:cs typeface="Bitstream Charter"/>
              </a:defRPr>
            </a:defPPr>
          </a:lstStyle>
          <a:p>
            <a:pPr algn="ctr">
              <a:defRPr sz="1650" b="0">
                <a:solidFill>
                  <a:srgbClr val="24211E"/>
                </a:solidFill>
                <a:latin typeface="Aptos"/>
                <a:ea typeface="Bitstream Charter"/>
                <a:cs typeface="Bitstream Charter"/>
              </a:defRPr>
            </a:pPr>
            <a:r>
              <a:rPr lang="en-US" sz="1650" b="0">
                <a:solidFill>
                  <a:srgbClr val="24211E"/>
                </a:solidFill>
                <a:latin typeface="Aptos"/>
                <a:ea typeface="Bitstream Charter"/>
                <a:cs typeface="Bitstream Charter"/>
              </a:rPr>
              <a:t>For the LSTM demonstration, the 89 encoded predictors form an analyst-defined feature sequence. Sequence positions represent encoded variables, not time. The LSTM result demonstrates recurrent architecture only and does not provide evidence of temporal learning.</a:t>
            </a:r>
          </a:p>
        </p:txBody>
      </p:sp>
      <p:sp>
        <p:nvSpPr>
          <p:cNvPr id="8" name="Rectangle 7">
            <a:extLst>
              <a:ext uri="{FF2B5EF4-FFF2-40B4-BE49-F238E27FC236}">
                <a16:creationId xmlns:a16="http://schemas.microsoft.com/office/drawing/2014/main" id="{D031176A-0EFC-4F28-B416-1FD13BE2F8EF}"/>
              </a:ext>
            </a:extLst>
          </p:cNvPr>
          <p:cNvSpPr>
            <a:spLocks noGrp="1"/>
          </p:cNvSpPr>
          <p:nvPr/>
        </p:nvSpPr>
        <p:spPr>
          <a:xfrm>
            <a:off x="1238250" y="5374995"/>
            <a:ext cx="9715500" cy="400050"/>
          </a:xfrm>
          <a:prstGeom prst="rect">
            <a:avLst/>
          </a:prstGeom>
          <a:noFill/>
          <a:ln w="0">
            <a:noFill/>
          </a:ln>
        </p:spPr>
        <p:txBody>
          <a:bodyPr wrap="square" anchor="ctr">
            <a:normAutofit/>
          </a:bodyPr>
          <a:lstStyle>
            <a:defPPr algn="ctr">
              <a:defRPr sz="1575" b="1">
                <a:solidFill>
                  <a:srgbClr val="A6462E"/>
                </a:solidFill>
                <a:latin typeface="Aptos"/>
                <a:ea typeface="Bitstream Charter"/>
                <a:cs typeface="Bitstream Charter"/>
              </a:defRPr>
            </a:defPPr>
          </a:lstStyle>
          <a:p>
            <a:pPr algn="ctr">
              <a:defRPr sz="1575" b="1">
                <a:solidFill>
                  <a:srgbClr val="A6462E"/>
                </a:solidFill>
                <a:latin typeface="Aptos"/>
                <a:ea typeface="Bitstream Charter"/>
                <a:cs typeface="Bitstream Charter"/>
              </a:defRPr>
            </a:pPr>
            <a:r>
              <a:rPr lang="en-US" sz="1575" b="1">
                <a:solidFill>
                  <a:srgbClr val="24211E"/>
                </a:solidFill>
                <a:latin typeface="Aptos"/>
                <a:ea typeface="Bitstream Charter"/>
                <a:cs typeface="Bitstream Charter"/>
              </a:rPr>
              <a:t>This limitation affects whether the project fully satisfies a time-series requirement.</a:t>
            </a:r>
          </a:p>
        </p:txBody>
      </p:sp>
      <p:sp>
        <p:nvSpPr>
          <p:cNvPr id="9" name="Rectangle 8">
            <a:extLst>
              <a:ext uri="{FF2B5EF4-FFF2-40B4-BE49-F238E27FC236}">
                <a16:creationId xmlns:a16="http://schemas.microsoft.com/office/drawing/2014/main" id="{7156599B-4839-4EA0-82E4-34AC58C4DC2B}"/>
              </a:ext>
            </a:extLst>
          </p:cNvPr>
          <p:cNvSpPr>
            <a:spLocks noGrp="1"/>
          </p:cNvSpPr>
          <p:nvPr/>
        </p:nvSpPr>
        <p:spPr>
          <a:xfrm>
            <a:off x="685800" y="6510528"/>
            <a:ext cx="6400800" cy="164592"/>
          </a:xfrm>
          <a:prstGeom prst="rect">
            <a:avLst/>
          </a:prstGeom>
          <a:noFill/>
          <a:ln w="0">
            <a:noFill/>
          </a:ln>
        </p:spPr>
        <p:txBody>
          <a:bodyPr wrap="square" anchor="ctr">
            <a:normAutofit fontScale="55000" lnSpcReduction="20000"/>
          </a:bodyPr>
          <a:lstStyle/>
          <a:p>
            <a:r>
              <a:rPr lang="en-US" sz="900">
                <a:solidFill>
                  <a:srgbClr val="6F6961"/>
                </a:solidFill>
                <a:latin typeface="Aptos"/>
              </a:rPr>
              <a:t>ANA500   Micro-Project 4   Valentin Diaconu</a:t>
            </a:r>
          </a:p>
        </p:txBody>
      </p:sp>
      <p:sp>
        <p:nvSpPr>
          <p:cNvPr id="10" name="Rectangle 9">
            <a:extLst>
              <a:ext uri="{FF2B5EF4-FFF2-40B4-BE49-F238E27FC236}">
                <a16:creationId xmlns:a16="http://schemas.microsoft.com/office/drawing/2014/main" id="{284A0ECD-1EC6-4197-B323-57D9A64B9FB9}"/>
              </a:ext>
            </a:extLst>
          </p:cNvPr>
          <p:cNvSpPr>
            <a:spLocks noGrp="1"/>
          </p:cNvSpPr>
          <p:nvPr/>
        </p:nvSpPr>
        <p:spPr>
          <a:xfrm>
            <a:off x="11018520" y="6492240"/>
            <a:ext cx="484632" cy="182880"/>
          </a:xfrm>
          <a:prstGeom prst="rect">
            <a:avLst/>
          </a:prstGeom>
          <a:noFill/>
          <a:ln w="0">
            <a:noFill/>
          </a:ln>
        </p:spPr>
        <p:txBody>
          <a:bodyPr wrap="square" anchor="ctr">
            <a:normAutofit fontScale="70000" lnSpcReduction="20000"/>
          </a:bodyPr>
          <a:lstStyle/>
          <a:p>
            <a:pPr algn="r"/>
            <a:r>
              <a:rPr lang="en-US" sz="980">
                <a:solidFill>
                  <a:srgbClr val="A6462E"/>
                </a:solidFill>
                <a:latin typeface="Aptos"/>
              </a:rPr>
              <a:t>2</a:t>
            </a:r>
          </a:p>
        </p:txBody>
      </p:sp>
      <p:sp>
        <p:nvSpPr>
          <p:cNvPr id="12" name="TextBox 13"/>
          <p:cNvSpPr txBox="1"/>
          <p:nvPr/>
        </p:nvSpPr>
        <p:spPr>
          <a:xfrm>
            <a:off x="11082528" y="429768"/>
            <a:ext cx="411480" cy="201168"/>
          </a:xfrm>
          <a:prstGeom prst="rect">
            <a:avLst/>
          </a:prstGeom>
          <a:noFill/>
        </p:spPr>
        <p:txBody>
          <a:bodyPr wrap="square" lIns="0" tIns="0" rIns="0" bIns="0" anchor="ctr">
            <a:spAutoFit/>
          </a:bodyPr>
          <a:lstStyle/>
          <a:p>
            <a:pPr algn="r"/>
            <a:r>
              <a:rPr sz="1050" b="0">
                <a:solidFill>
                  <a:srgbClr val="6F6961"/>
                </a:solidFill>
                <a:latin typeface="Aptos"/>
              </a:rPr>
              <a:t>02</a:t>
            </a:r>
          </a:p>
        </p:txBody>
      </p:sp>
      <p:sp>
        <p:nvSpPr>
          <p:cNvPr id="13" name="Rectangle 14"/>
          <p:cNvSpPr/>
          <p:nvPr/>
        </p:nvSpPr>
        <p:spPr>
          <a:xfrm>
            <a:off x="685800" y="1435608"/>
            <a:ext cx="10817352" cy="10972"/>
          </a:xfrm>
          <a:prstGeom prst="rect">
            <a:avLst/>
          </a:prstGeom>
          <a:solidFill>
            <a:srgbClr val="CFC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5"/>
          <p:cNvSpPr/>
          <p:nvPr/>
        </p:nvSpPr>
        <p:spPr>
          <a:xfrm>
            <a:off x="685800" y="6419088"/>
            <a:ext cx="10817352" cy="10972"/>
          </a:xfrm>
          <a:prstGeom prst="rect">
            <a:avLst/>
          </a:prstGeom>
          <a:solidFill>
            <a:srgbClr val="CFC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72652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0E7"/>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AD4CDFB-7F3B-4565-90A7-9C11F6D56C82}"/>
              </a:ext>
            </a:extLst>
          </p:cNvPr>
          <p:cNvSpPr>
            <a:spLocks noGrp="1"/>
          </p:cNvSpPr>
          <p:nvPr/>
        </p:nvSpPr>
        <p:spPr>
          <a:xfrm>
            <a:off x="0" y="0"/>
            <a:ext cx="12192000" cy="876300"/>
          </a:xfrm>
          <a:prstGeom prst="rect">
            <a:avLst/>
          </a:prstGeom>
          <a:solidFill>
            <a:srgbClr val="F5F0E7"/>
          </a:solidFill>
          <a:ln w="0">
            <a:noFill/>
          </a:ln>
        </p:spPr>
        <p:txBody>
          <a:bodyPr/>
          <a:lstStyle/>
          <a:p>
            <a:endParaRPr lang="en-US"/>
          </a:p>
        </p:txBody>
      </p:sp>
      <p:sp>
        <p:nvSpPr>
          <p:cNvPr id="2" name="Rectangle 1">
            <a:extLst>
              <a:ext uri="{FF2B5EF4-FFF2-40B4-BE49-F238E27FC236}">
                <a16:creationId xmlns:a16="http://schemas.microsoft.com/office/drawing/2014/main" id="{674D117E-65B9-462F-AFD8-AB5C66416444}"/>
              </a:ext>
            </a:extLst>
          </p:cNvPr>
          <p:cNvSpPr>
            <a:spLocks noGrp="1"/>
          </p:cNvSpPr>
          <p:nvPr/>
        </p:nvSpPr>
        <p:spPr>
          <a:xfrm>
            <a:off x="685800" y="722376"/>
            <a:ext cx="10058400" cy="585216"/>
          </a:xfrm>
          <a:prstGeom prst="rect">
            <a:avLst/>
          </a:prstGeom>
          <a:noFill/>
          <a:ln w="0">
            <a:noFill/>
          </a:ln>
        </p:spPr>
        <p:txBody>
          <a:bodyPr wrap="square" anchor="ctr">
            <a:normAutofit lnSpcReduction="10000"/>
          </a:bodyPr>
          <a:lstStyle/>
          <a:p>
            <a:pPr algn="l">
              <a:defRPr sz="2550" b="1">
                <a:solidFill>
                  <a:srgbClr val="FFFFFF"/>
                </a:solidFill>
                <a:latin typeface="Bitstream Charter"/>
                <a:ea typeface="Bitstream Charter"/>
                <a:cs typeface="Bitstream Charter"/>
              </a:defRPr>
            </a:pPr>
            <a:r>
              <a:rPr lang="en-US" sz="3300" b="1">
                <a:solidFill>
                  <a:srgbClr val="24211E"/>
                </a:solidFill>
                <a:latin typeface="Georgia"/>
                <a:ea typeface="Bitstream Charter"/>
                <a:cs typeface="Bitstream Charter"/>
              </a:rPr>
              <a:t>Problem Statement and Hypothesis</a:t>
            </a:r>
          </a:p>
        </p:txBody>
      </p:sp>
      <p:sp>
        <p:nvSpPr>
          <p:cNvPr id="3" name="Rectangle 2">
            <a:extLst>
              <a:ext uri="{FF2B5EF4-FFF2-40B4-BE49-F238E27FC236}">
                <a16:creationId xmlns:a16="http://schemas.microsoft.com/office/drawing/2014/main" id="{D828A11B-AD33-4C02-BF7C-6D7630E58455}"/>
              </a:ext>
            </a:extLst>
          </p:cNvPr>
          <p:cNvSpPr>
            <a:spLocks noGrp="1"/>
          </p:cNvSpPr>
          <p:nvPr/>
        </p:nvSpPr>
        <p:spPr>
          <a:xfrm>
            <a:off x="685800" y="402336"/>
            <a:ext cx="3474720" cy="219456"/>
          </a:xfrm>
          <a:prstGeom prst="rect">
            <a:avLst/>
          </a:prstGeom>
          <a:noFill/>
          <a:ln w="0">
            <a:noFill/>
          </a:ln>
        </p:spPr>
        <p:txBody>
          <a:bodyPr wrap="square" anchor="ctr">
            <a:normAutofit fontScale="62500" lnSpcReduction="20000"/>
          </a:bodyPr>
          <a:lstStyle/>
          <a:p>
            <a:r>
              <a:rPr lang="en-US" sz="1650" b="1">
                <a:solidFill>
                  <a:srgbClr val="A6462E"/>
                </a:solidFill>
                <a:latin typeface="Aptos"/>
              </a:rPr>
              <a:t>QUESTION</a:t>
            </a:r>
          </a:p>
        </p:txBody>
      </p:sp>
      <p:sp>
        <p:nvSpPr>
          <p:cNvPr id="4" name="Rounded Rectangle 3">
            <a:extLst>
              <a:ext uri="{FF2B5EF4-FFF2-40B4-BE49-F238E27FC236}">
                <a16:creationId xmlns:a16="http://schemas.microsoft.com/office/drawing/2014/main" id="{F9FC61F6-09B5-4F28-A06C-D95D71216B2F}"/>
              </a:ext>
            </a:extLst>
          </p:cNvPr>
          <p:cNvSpPr>
            <a:spLocks noGrp="1"/>
          </p:cNvSpPr>
          <p:nvPr/>
        </p:nvSpPr>
        <p:spPr>
          <a:xfrm>
            <a:off x="590550" y="1807882"/>
            <a:ext cx="5219700" cy="3733800"/>
          </a:xfrm>
          <a:prstGeom prst="roundRect">
            <a:avLst>
              <a:gd name="adj" fmla="val 1786"/>
            </a:avLst>
          </a:prstGeom>
          <a:solidFill>
            <a:srgbClr val="EBE3D8"/>
          </a:solidFill>
          <a:ln w="0">
            <a:noFill/>
          </a:ln>
        </p:spPr>
        <p:txBody>
          <a:bodyPr wrap="square"/>
          <a:lstStyle/>
          <a:p>
            <a:endParaRPr lang="en-US"/>
          </a:p>
        </p:txBody>
      </p:sp>
      <p:sp>
        <p:nvSpPr>
          <p:cNvPr id="5" name="Rectangle 4">
            <a:extLst>
              <a:ext uri="{FF2B5EF4-FFF2-40B4-BE49-F238E27FC236}">
                <a16:creationId xmlns:a16="http://schemas.microsoft.com/office/drawing/2014/main" id="{0510EC33-5556-4D6F-BC48-FFFEB24BF19D}"/>
              </a:ext>
            </a:extLst>
          </p:cNvPr>
          <p:cNvSpPr>
            <a:spLocks noGrp="1"/>
          </p:cNvSpPr>
          <p:nvPr/>
        </p:nvSpPr>
        <p:spPr>
          <a:xfrm>
            <a:off x="876300" y="2024576"/>
            <a:ext cx="4667250" cy="350043"/>
          </a:xfrm>
          <a:prstGeom prst="rect">
            <a:avLst/>
          </a:prstGeom>
          <a:noFill/>
          <a:ln w="0">
            <a:noFill/>
          </a:ln>
        </p:spPr>
        <p:txBody>
          <a:bodyPr wrap="square" anchor="ctr">
            <a:normAutofit fontScale="92500" lnSpcReduction="10000"/>
          </a:bodyPr>
          <a:lstStyle>
            <a:defPPr algn="l">
              <a:defRPr sz="1875" b="1">
                <a:solidFill>
                  <a:srgbClr val="24211E"/>
                </a:solidFill>
                <a:latin typeface="Aptos"/>
                <a:ea typeface="Bitstream Charter"/>
                <a:cs typeface="Bitstream Charter"/>
              </a:defRPr>
            </a:defPPr>
          </a:lstStyle>
          <a:p>
            <a:pPr algn="l">
              <a:defRPr sz="1875" b="1">
                <a:solidFill>
                  <a:srgbClr val="24211E"/>
                </a:solidFill>
                <a:latin typeface="Aptos"/>
                <a:ea typeface="Bitstream Charter"/>
                <a:cs typeface="Bitstream Charter"/>
              </a:defRPr>
            </a:pPr>
            <a:r>
              <a:rPr lang="en-US" sz="1875" b="1">
                <a:solidFill>
                  <a:srgbClr val="24211E"/>
                </a:solidFill>
                <a:latin typeface="Aptos"/>
                <a:ea typeface="Bitstream Charter"/>
                <a:cs typeface="Bitstream Charter"/>
              </a:rPr>
              <a:t>Problem statement</a:t>
            </a:r>
          </a:p>
        </p:txBody>
      </p:sp>
      <p:sp>
        <p:nvSpPr>
          <p:cNvPr id="6" name="Rectangle 5">
            <a:extLst>
              <a:ext uri="{FF2B5EF4-FFF2-40B4-BE49-F238E27FC236}">
                <a16:creationId xmlns:a16="http://schemas.microsoft.com/office/drawing/2014/main" id="{A219FA7F-C454-45FB-A0AB-2A2ABFB5D05C}"/>
              </a:ext>
            </a:extLst>
          </p:cNvPr>
          <p:cNvSpPr>
            <a:spLocks noGrp="1"/>
          </p:cNvSpPr>
          <p:nvPr/>
        </p:nvSpPr>
        <p:spPr>
          <a:xfrm>
            <a:off x="876300" y="2541307"/>
            <a:ext cx="4591050" cy="1416843"/>
          </a:xfrm>
          <a:prstGeom prst="rect">
            <a:avLst/>
          </a:prstGeom>
          <a:noFill/>
          <a:ln w="0">
            <a:noFill/>
          </a:ln>
        </p:spPr>
        <p:txBody>
          <a:bodyPr wrap="square" anchor="ctr">
            <a:normAutofit lnSpcReduction="10000"/>
          </a:bodyPr>
          <a:lstStyle>
            <a:defPPr algn="l">
              <a:defRPr sz="1875" b="0">
                <a:solidFill>
                  <a:srgbClr val="24211E"/>
                </a:solidFill>
                <a:latin typeface="Aptos"/>
                <a:ea typeface="Bitstream Charter"/>
                <a:cs typeface="Bitstream Charter"/>
              </a:defRPr>
            </a:defPPr>
          </a:lstStyle>
          <a:p>
            <a:pPr algn="l">
              <a:defRPr sz="1875" b="0">
                <a:solidFill>
                  <a:srgbClr val="24211E"/>
                </a:solidFill>
                <a:latin typeface="Aptos"/>
                <a:ea typeface="Bitstream Charter"/>
                <a:cs typeface="Bitstream Charter"/>
              </a:defRPr>
            </a:pPr>
            <a:r>
              <a:rPr lang="en-US" sz="1875" b="0">
                <a:solidFill>
                  <a:srgbClr val="24211E"/>
                </a:solidFill>
                <a:latin typeface="Aptos"/>
                <a:ea typeface="Bitstream Charter"/>
                <a:cs typeface="Bitstream Charter"/>
              </a:rPr>
              <a:t>Can deep neural networks use demographic, educational, and employment characteristics to classify whether an adult reports income above $50,000?</a:t>
            </a:r>
          </a:p>
        </p:txBody>
      </p:sp>
      <p:sp>
        <p:nvSpPr>
          <p:cNvPr id="7" name="Rounded Rectangle 6">
            <a:extLst>
              <a:ext uri="{FF2B5EF4-FFF2-40B4-BE49-F238E27FC236}">
                <a16:creationId xmlns:a16="http://schemas.microsoft.com/office/drawing/2014/main" id="{48884CEA-3FD8-4099-AF7F-27D956D7BA81}"/>
              </a:ext>
            </a:extLst>
          </p:cNvPr>
          <p:cNvSpPr>
            <a:spLocks noGrp="1"/>
          </p:cNvSpPr>
          <p:nvPr/>
        </p:nvSpPr>
        <p:spPr>
          <a:xfrm>
            <a:off x="6191250" y="1807882"/>
            <a:ext cx="5410200" cy="3733800"/>
          </a:xfrm>
          <a:prstGeom prst="roundRect">
            <a:avLst>
              <a:gd name="adj" fmla="val 1786"/>
            </a:avLst>
          </a:prstGeom>
          <a:solidFill>
            <a:srgbClr val="E7DFD2"/>
          </a:solidFill>
          <a:ln w="0">
            <a:noFill/>
          </a:ln>
        </p:spPr>
        <p:txBody>
          <a:bodyPr wrap="square"/>
          <a:lstStyle/>
          <a:p>
            <a:endParaRPr lang="en-US"/>
          </a:p>
        </p:txBody>
      </p:sp>
      <p:sp>
        <p:nvSpPr>
          <p:cNvPr id="8" name="Rectangle 7">
            <a:extLst>
              <a:ext uri="{FF2B5EF4-FFF2-40B4-BE49-F238E27FC236}">
                <a16:creationId xmlns:a16="http://schemas.microsoft.com/office/drawing/2014/main" id="{24147991-ADB9-4C77-B0AF-DA26348CDFC8}"/>
              </a:ext>
            </a:extLst>
          </p:cNvPr>
          <p:cNvSpPr>
            <a:spLocks noGrp="1"/>
          </p:cNvSpPr>
          <p:nvPr/>
        </p:nvSpPr>
        <p:spPr>
          <a:xfrm>
            <a:off x="6477000" y="2024576"/>
            <a:ext cx="4762500" cy="350043"/>
          </a:xfrm>
          <a:prstGeom prst="rect">
            <a:avLst/>
          </a:prstGeom>
          <a:noFill/>
          <a:ln w="0">
            <a:noFill/>
          </a:ln>
        </p:spPr>
        <p:txBody>
          <a:bodyPr wrap="square" anchor="ctr">
            <a:normAutofit fontScale="92500" lnSpcReduction="10000"/>
          </a:bodyPr>
          <a:lstStyle>
            <a:defPPr algn="l">
              <a:defRPr sz="1875" b="1">
                <a:solidFill>
                  <a:srgbClr val="A6462E"/>
                </a:solidFill>
                <a:latin typeface="Aptos"/>
                <a:ea typeface="Bitstream Charter"/>
                <a:cs typeface="Bitstream Charter"/>
              </a:defRPr>
            </a:defPPr>
          </a:lstStyle>
          <a:p>
            <a:pPr algn="l">
              <a:defRPr sz="1875" b="1">
                <a:solidFill>
                  <a:srgbClr val="A6462E"/>
                </a:solidFill>
                <a:latin typeface="Aptos"/>
                <a:ea typeface="Bitstream Charter"/>
                <a:cs typeface="Bitstream Charter"/>
              </a:defRPr>
            </a:pPr>
            <a:r>
              <a:rPr lang="en-US" sz="1875" b="1">
                <a:solidFill>
                  <a:srgbClr val="A6462E"/>
                </a:solidFill>
                <a:latin typeface="Aptos"/>
                <a:ea typeface="Bitstream Charter"/>
                <a:cs typeface="Bitstream Charter"/>
              </a:rPr>
              <a:t>Hypothesis</a:t>
            </a:r>
          </a:p>
        </p:txBody>
      </p:sp>
      <p:sp>
        <p:nvSpPr>
          <p:cNvPr id="9" name="Rectangle 8">
            <a:extLst>
              <a:ext uri="{FF2B5EF4-FFF2-40B4-BE49-F238E27FC236}">
                <a16:creationId xmlns:a16="http://schemas.microsoft.com/office/drawing/2014/main" id="{9E820262-AD55-4B7E-9D3F-A10FEE78A33C}"/>
              </a:ext>
            </a:extLst>
          </p:cNvPr>
          <p:cNvSpPr>
            <a:spLocks noGrp="1"/>
          </p:cNvSpPr>
          <p:nvPr/>
        </p:nvSpPr>
        <p:spPr>
          <a:xfrm>
            <a:off x="6477000" y="2491301"/>
            <a:ext cx="4762500" cy="1916906"/>
          </a:xfrm>
          <a:prstGeom prst="rect">
            <a:avLst/>
          </a:prstGeom>
          <a:noFill/>
          <a:ln w="0">
            <a:noFill/>
          </a:ln>
        </p:spPr>
        <p:txBody>
          <a:bodyPr wrap="square" anchor="ctr">
            <a:normAutofit/>
          </a:bodyPr>
          <a:lstStyle>
            <a:defPPr algn="l">
              <a:defRPr sz="1650" b="0">
                <a:solidFill>
                  <a:srgbClr val="24211E"/>
                </a:solidFill>
                <a:latin typeface="Aptos"/>
                <a:ea typeface="Bitstream Charter"/>
                <a:cs typeface="Bitstream Charter"/>
              </a:defRPr>
            </a:defPPr>
          </a:lstStyle>
          <a:p>
            <a:pPr algn="l">
              <a:defRPr sz="1650" b="0">
                <a:solidFill>
                  <a:srgbClr val="24211E"/>
                </a:solidFill>
                <a:latin typeface="Aptos"/>
                <a:ea typeface="Bitstream Charter"/>
                <a:cs typeface="Bitstream Charter"/>
              </a:defRPr>
            </a:pPr>
            <a:r>
              <a:rPr lang="en-US" sz="1650" b="0">
                <a:solidFill>
                  <a:srgbClr val="24211E"/>
                </a:solidFill>
                <a:latin typeface="Aptos"/>
                <a:ea typeface="Bitstream Charter"/>
                <a:cs typeface="Bitstream Charter"/>
              </a:rPr>
              <a:t>The MLP and LSTM will outperform the majority baseline because nonlinear layers can represent predictor interactions. The LSTM may not outperform the MLP because the encoded predictors have no natural temporal order.</a:t>
            </a:r>
          </a:p>
        </p:txBody>
      </p:sp>
      <p:sp>
        <p:nvSpPr>
          <p:cNvPr id="10" name="Rectangle 9">
            <a:extLst>
              <a:ext uri="{FF2B5EF4-FFF2-40B4-BE49-F238E27FC236}">
                <a16:creationId xmlns:a16="http://schemas.microsoft.com/office/drawing/2014/main" id="{9CFC38AF-9082-4980-BF37-EB0EB52D5CB1}"/>
              </a:ext>
            </a:extLst>
          </p:cNvPr>
          <p:cNvSpPr>
            <a:spLocks noGrp="1"/>
          </p:cNvSpPr>
          <p:nvPr/>
        </p:nvSpPr>
        <p:spPr>
          <a:xfrm>
            <a:off x="6477000" y="4891601"/>
            <a:ext cx="4762500" cy="300037"/>
          </a:xfrm>
          <a:prstGeom prst="rect">
            <a:avLst/>
          </a:prstGeom>
          <a:noFill/>
          <a:ln w="0">
            <a:noFill/>
          </a:ln>
        </p:spPr>
        <p:txBody>
          <a:bodyPr wrap="square" anchor="ctr">
            <a:normAutofit/>
          </a:bodyPr>
          <a:lstStyle>
            <a:defPPr algn="l">
              <a:defRPr sz="1350" b="1">
                <a:solidFill>
                  <a:srgbClr val="6F6961"/>
                </a:solidFill>
                <a:latin typeface="Aptos"/>
                <a:ea typeface="Bitstream Charter"/>
                <a:cs typeface="Bitstream Charter"/>
              </a:defRPr>
            </a:defPPr>
          </a:lstStyle>
          <a:p>
            <a:pPr algn="l">
              <a:defRPr sz="1350" b="1">
                <a:solidFill>
                  <a:srgbClr val="6F6961"/>
                </a:solidFill>
                <a:latin typeface="Aptos"/>
                <a:ea typeface="Bitstream Charter"/>
                <a:cs typeface="Bitstream Charter"/>
              </a:defRPr>
            </a:pPr>
            <a:r>
              <a:rPr lang="en-US" sz="1350" b="1">
                <a:solidFill>
                  <a:srgbClr val="6F6961"/>
                </a:solidFill>
                <a:latin typeface="Aptos"/>
                <a:ea typeface="Bitstream Charter"/>
                <a:cs typeface="Bitstream Charter"/>
              </a:rPr>
              <a:t>Target: income &gt;$50K   Task: binary classification</a:t>
            </a:r>
          </a:p>
        </p:txBody>
      </p:sp>
      <p:sp>
        <p:nvSpPr>
          <p:cNvPr id="11" name="Rectangle 10">
            <a:extLst>
              <a:ext uri="{FF2B5EF4-FFF2-40B4-BE49-F238E27FC236}">
                <a16:creationId xmlns:a16="http://schemas.microsoft.com/office/drawing/2014/main" id="{66CEF102-F416-4742-AF3F-0C0FC55C1F93}"/>
              </a:ext>
            </a:extLst>
          </p:cNvPr>
          <p:cNvSpPr>
            <a:spLocks noGrp="1"/>
          </p:cNvSpPr>
          <p:nvPr/>
        </p:nvSpPr>
        <p:spPr>
          <a:xfrm>
            <a:off x="685800" y="6510528"/>
            <a:ext cx="6400800" cy="164592"/>
          </a:xfrm>
          <a:prstGeom prst="rect">
            <a:avLst/>
          </a:prstGeom>
          <a:noFill/>
          <a:ln w="0">
            <a:noFill/>
          </a:ln>
        </p:spPr>
        <p:txBody>
          <a:bodyPr wrap="square" anchor="ctr">
            <a:normAutofit fontScale="55000" lnSpcReduction="20000"/>
          </a:bodyPr>
          <a:lstStyle/>
          <a:p>
            <a:r>
              <a:rPr lang="en-US" sz="900">
                <a:solidFill>
                  <a:srgbClr val="6F6961"/>
                </a:solidFill>
                <a:latin typeface="Aptos"/>
              </a:rPr>
              <a:t>ANA500   Micro-Project 4   Valentin Diaconu</a:t>
            </a:r>
          </a:p>
        </p:txBody>
      </p:sp>
      <p:sp>
        <p:nvSpPr>
          <p:cNvPr id="12" name="Rectangle 11">
            <a:extLst>
              <a:ext uri="{FF2B5EF4-FFF2-40B4-BE49-F238E27FC236}">
                <a16:creationId xmlns:a16="http://schemas.microsoft.com/office/drawing/2014/main" id="{28586140-839E-4B22-93B3-AAE29B5CC41C}"/>
              </a:ext>
            </a:extLst>
          </p:cNvPr>
          <p:cNvSpPr>
            <a:spLocks noGrp="1"/>
          </p:cNvSpPr>
          <p:nvPr/>
        </p:nvSpPr>
        <p:spPr>
          <a:xfrm>
            <a:off x="11018520" y="6492240"/>
            <a:ext cx="484632" cy="182880"/>
          </a:xfrm>
          <a:prstGeom prst="rect">
            <a:avLst/>
          </a:prstGeom>
          <a:noFill/>
          <a:ln w="0">
            <a:noFill/>
          </a:ln>
        </p:spPr>
        <p:txBody>
          <a:bodyPr wrap="square" anchor="ctr">
            <a:normAutofit fontScale="70000" lnSpcReduction="20000"/>
          </a:bodyPr>
          <a:lstStyle/>
          <a:p>
            <a:pPr algn="r"/>
            <a:r>
              <a:rPr lang="en-US" sz="980">
                <a:solidFill>
                  <a:srgbClr val="A6462E"/>
                </a:solidFill>
                <a:latin typeface="Aptos"/>
              </a:rPr>
              <a:t>3</a:t>
            </a:r>
          </a:p>
        </p:txBody>
      </p:sp>
      <p:sp>
        <p:nvSpPr>
          <p:cNvPr id="14" name="TextBox 13"/>
          <p:cNvSpPr txBox="1"/>
          <p:nvPr/>
        </p:nvSpPr>
        <p:spPr>
          <a:xfrm>
            <a:off x="11082528" y="429768"/>
            <a:ext cx="411480" cy="201168"/>
          </a:xfrm>
          <a:prstGeom prst="rect">
            <a:avLst/>
          </a:prstGeom>
          <a:noFill/>
        </p:spPr>
        <p:txBody>
          <a:bodyPr wrap="square" lIns="0" tIns="0" rIns="0" bIns="0" anchor="ctr">
            <a:spAutoFit/>
          </a:bodyPr>
          <a:lstStyle/>
          <a:p>
            <a:pPr algn="r"/>
            <a:r>
              <a:rPr sz="1050" b="0">
                <a:solidFill>
                  <a:srgbClr val="6F6961"/>
                </a:solidFill>
                <a:latin typeface="Aptos"/>
              </a:rPr>
              <a:t>03</a:t>
            </a:r>
          </a:p>
        </p:txBody>
      </p:sp>
      <p:sp>
        <p:nvSpPr>
          <p:cNvPr id="15" name="Rectangle 14"/>
          <p:cNvSpPr/>
          <p:nvPr/>
        </p:nvSpPr>
        <p:spPr>
          <a:xfrm>
            <a:off x="685800" y="1435608"/>
            <a:ext cx="10817352" cy="10972"/>
          </a:xfrm>
          <a:prstGeom prst="rect">
            <a:avLst/>
          </a:prstGeom>
          <a:solidFill>
            <a:srgbClr val="CFC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85800" y="6419088"/>
            <a:ext cx="10817352" cy="10972"/>
          </a:xfrm>
          <a:prstGeom prst="rect">
            <a:avLst/>
          </a:prstGeom>
          <a:solidFill>
            <a:srgbClr val="CFC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037349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0E7"/>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760E151-CD6F-4342-8770-CC2D95563256}"/>
              </a:ext>
            </a:extLst>
          </p:cNvPr>
          <p:cNvSpPr>
            <a:spLocks noGrp="1"/>
          </p:cNvSpPr>
          <p:nvPr/>
        </p:nvSpPr>
        <p:spPr>
          <a:xfrm>
            <a:off x="0" y="0"/>
            <a:ext cx="12192000" cy="876300"/>
          </a:xfrm>
          <a:prstGeom prst="rect">
            <a:avLst/>
          </a:prstGeom>
          <a:solidFill>
            <a:srgbClr val="F5F0E7"/>
          </a:solidFill>
          <a:ln w="0">
            <a:noFill/>
          </a:ln>
        </p:spPr>
        <p:txBody>
          <a:bodyPr/>
          <a:lstStyle/>
          <a:p>
            <a:endParaRPr lang="en-US"/>
          </a:p>
        </p:txBody>
      </p:sp>
      <p:sp>
        <p:nvSpPr>
          <p:cNvPr id="2" name="Rectangle 1">
            <a:extLst>
              <a:ext uri="{FF2B5EF4-FFF2-40B4-BE49-F238E27FC236}">
                <a16:creationId xmlns:a16="http://schemas.microsoft.com/office/drawing/2014/main" id="{59F520BA-536F-42F9-B7CB-3A32347F60B3}"/>
              </a:ext>
            </a:extLst>
          </p:cNvPr>
          <p:cNvSpPr>
            <a:spLocks noGrp="1"/>
          </p:cNvSpPr>
          <p:nvPr/>
        </p:nvSpPr>
        <p:spPr>
          <a:xfrm>
            <a:off x="685800" y="722376"/>
            <a:ext cx="10058400" cy="585216"/>
          </a:xfrm>
          <a:prstGeom prst="rect">
            <a:avLst/>
          </a:prstGeom>
          <a:noFill/>
          <a:ln w="0">
            <a:noFill/>
          </a:ln>
        </p:spPr>
        <p:txBody>
          <a:bodyPr wrap="square" anchor="ctr">
            <a:normAutofit lnSpcReduction="10000"/>
          </a:bodyPr>
          <a:lstStyle/>
          <a:p>
            <a:pPr algn="l">
              <a:defRPr sz="2550" b="1">
                <a:solidFill>
                  <a:srgbClr val="FFFFFF"/>
                </a:solidFill>
                <a:latin typeface="Bitstream Charter"/>
                <a:ea typeface="Bitstream Charter"/>
                <a:cs typeface="Bitstream Charter"/>
              </a:defRPr>
            </a:pPr>
            <a:r>
              <a:rPr lang="en-US" sz="3300" b="1">
                <a:solidFill>
                  <a:srgbClr val="24211E"/>
                </a:solidFill>
                <a:latin typeface="Georgia"/>
                <a:ea typeface="Bitstream Charter"/>
                <a:cs typeface="Bitstream Charter"/>
              </a:rPr>
              <a:t>Acquire and Prepare</a:t>
            </a:r>
          </a:p>
        </p:txBody>
      </p:sp>
      <p:sp>
        <p:nvSpPr>
          <p:cNvPr id="3" name="Rectangle 2">
            <a:extLst>
              <a:ext uri="{FF2B5EF4-FFF2-40B4-BE49-F238E27FC236}">
                <a16:creationId xmlns:a16="http://schemas.microsoft.com/office/drawing/2014/main" id="{6CD70385-E9DD-494A-950A-2364FE3BD789}"/>
              </a:ext>
            </a:extLst>
          </p:cNvPr>
          <p:cNvSpPr>
            <a:spLocks noGrp="1"/>
          </p:cNvSpPr>
          <p:nvPr/>
        </p:nvSpPr>
        <p:spPr>
          <a:xfrm>
            <a:off x="685800" y="402336"/>
            <a:ext cx="3474720" cy="219456"/>
          </a:xfrm>
          <a:prstGeom prst="rect">
            <a:avLst/>
          </a:prstGeom>
          <a:noFill/>
          <a:ln w="0">
            <a:noFill/>
          </a:ln>
        </p:spPr>
        <p:txBody>
          <a:bodyPr wrap="square" anchor="ctr">
            <a:normAutofit fontScale="62500" lnSpcReduction="20000"/>
          </a:bodyPr>
          <a:lstStyle/>
          <a:p>
            <a:r>
              <a:rPr lang="en-US" sz="1650" b="1">
                <a:solidFill>
                  <a:srgbClr val="A6462E"/>
                </a:solidFill>
                <a:latin typeface="Aptos"/>
              </a:rPr>
              <a:t>STEPS 1-2</a:t>
            </a:r>
          </a:p>
        </p:txBody>
      </p:sp>
      <p:sp>
        <p:nvSpPr>
          <p:cNvPr id="4" name="Rectangle 3">
            <a:extLst>
              <a:ext uri="{FF2B5EF4-FFF2-40B4-BE49-F238E27FC236}">
                <a16:creationId xmlns:a16="http://schemas.microsoft.com/office/drawing/2014/main" id="{D1389A09-6BC1-4224-B100-284C07AB8044}"/>
              </a:ext>
            </a:extLst>
          </p:cNvPr>
          <p:cNvSpPr>
            <a:spLocks noGrp="1"/>
          </p:cNvSpPr>
          <p:nvPr/>
        </p:nvSpPr>
        <p:spPr>
          <a:xfrm>
            <a:off x="628650" y="1724538"/>
            <a:ext cx="3714750" cy="350043"/>
          </a:xfrm>
          <a:prstGeom prst="rect">
            <a:avLst/>
          </a:prstGeom>
          <a:noFill/>
          <a:ln w="0">
            <a:noFill/>
          </a:ln>
        </p:spPr>
        <p:txBody>
          <a:bodyPr wrap="square" anchor="ctr">
            <a:normAutofit fontScale="92500" lnSpcReduction="20000"/>
          </a:bodyPr>
          <a:lstStyle>
            <a:defPPr algn="l">
              <a:defRPr sz="2025" b="1">
                <a:solidFill>
                  <a:srgbClr val="24211E"/>
                </a:solidFill>
                <a:latin typeface="Aptos"/>
                <a:ea typeface="Bitstream Charter"/>
                <a:cs typeface="Bitstream Charter"/>
              </a:defRPr>
            </a:defPPr>
          </a:lstStyle>
          <a:p>
            <a:pPr algn="l">
              <a:defRPr sz="2025" b="1">
                <a:solidFill>
                  <a:srgbClr val="24211E"/>
                </a:solidFill>
                <a:latin typeface="Aptos"/>
                <a:ea typeface="Bitstream Charter"/>
                <a:cs typeface="Bitstream Charter"/>
              </a:defRPr>
            </a:pPr>
            <a:r>
              <a:rPr lang="en-US" sz="2025" b="1">
                <a:solidFill>
                  <a:srgbClr val="24211E"/>
                </a:solidFill>
                <a:latin typeface="Aptos"/>
                <a:ea typeface="Bitstream Charter"/>
                <a:cs typeface="Bitstream Charter"/>
              </a:rPr>
              <a:t>Adult Income dataset</a:t>
            </a:r>
          </a:p>
        </p:txBody>
      </p:sp>
      <p:sp>
        <p:nvSpPr>
          <p:cNvPr id="5" name="Rectangle 4">
            <a:extLst>
              <a:ext uri="{FF2B5EF4-FFF2-40B4-BE49-F238E27FC236}">
                <a16:creationId xmlns:a16="http://schemas.microsoft.com/office/drawing/2014/main" id="{8FF2B329-3CB5-4822-BEE6-93D5A352AB67}"/>
              </a:ext>
            </a:extLst>
          </p:cNvPr>
          <p:cNvSpPr>
            <a:spLocks noGrp="1"/>
          </p:cNvSpPr>
          <p:nvPr/>
        </p:nvSpPr>
        <p:spPr>
          <a:xfrm>
            <a:off x="685800" y="2224601"/>
            <a:ext cx="4953000" cy="400050"/>
          </a:xfrm>
          <a:prstGeom prst="rect">
            <a:avLst/>
          </a:prstGeom>
          <a:noFill/>
          <a:ln w="0">
            <a:noFill/>
          </a:ln>
        </p:spPr>
        <p:txBody>
          <a:bodyPr wrap="square" anchor="ctr">
            <a:normAutofit/>
          </a:bodyPr>
          <a:lstStyle>
            <a:defPPr algn="l">
              <a:defRPr sz="1500" b="0">
                <a:solidFill>
                  <a:srgbClr val="24211E"/>
                </a:solidFill>
                <a:latin typeface="Aptos"/>
                <a:ea typeface="Bitstream Charter"/>
                <a:cs typeface="Bitstream Charter"/>
              </a:defRPr>
            </a:defPPr>
          </a:lstStyle>
          <a:p>
            <a:pPr algn="l">
              <a:defRPr sz="1500" b="0">
                <a:solidFill>
                  <a:srgbClr val="24211E"/>
                </a:solidFill>
                <a:latin typeface="Aptos"/>
                <a:ea typeface="Bitstream Charter"/>
                <a:cs typeface="Bitstream Charter"/>
              </a:defRPr>
            </a:pPr>
            <a:r>
              <a:rPr lang="en-US" sz="1500" b="0">
                <a:solidFill>
                  <a:srgbClr val="24211E"/>
                </a:solidFill>
                <a:latin typeface="Aptos"/>
                <a:ea typeface="Bitstream Charter"/>
                <a:cs typeface="Bitstream Charter"/>
              </a:rPr>
              <a:t>• 32,561 acquired records and 15 original fields</a:t>
            </a:r>
          </a:p>
        </p:txBody>
      </p:sp>
      <p:sp>
        <p:nvSpPr>
          <p:cNvPr id="6" name="Rectangle 5">
            <a:extLst>
              <a:ext uri="{FF2B5EF4-FFF2-40B4-BE49-F238E27FC236}">
                <a16:creationId xmlns:a16="http://schemas.microsoft.com/office/drawing/2014/main" id="{39CFA3F9-70DC-449D-982C-CC8BF385486C}"/>
              </a:ext>
            </a:extLst>
          </p:cNvPr>
          <p:cNvSpPr>
            <a:spLocks noGrp="1"/>
          </p:cNvSpPr>
          <p:nvPr/>
        </p:nvSpPr>
        <p:spPr>
          <a:xfrm>
            <a:off x="685800" y="2691326"/>
            <a:ext cx="4953000" cy="400050"/>
          </a:xfrm>
          <a:prstGeom prst="rect">
            <a:avLst/>
          </a:prstGeom>
          <a:noFill/>
          <a:ln w="0">
            <a:noFill/>
          </a:ln>
        </p:spPr>
        <p:txBody>
          <a:bodyPr wrap="square" anchor="ctr">
            <a:normAutofit/>
          </a:bodyPr>
          <a:lstStyle>
            <a:defPPr algn="l">
              <a:defRPr sz="1500" b="0">
                <a:solidFill>
                  <a:srgbClr val="24211E"/>
                </a:solidFill>
                <a:latin typeface="Aptos"/>
                <a:ea typeface="Bitstream Charter"/>
                <a:cs typeface="Bitstream Charter"/>
              </a:defRPr>
            </a:defPPr>
          </a:lstStyle>
          <a:p>
            <a:pPr algn="l">
              <a:defRPr sz="1500" b="0">
                <a:solidFill>
                  <a:srgbClr val="24211E"/>
                </a:solidFill>
                <a:latin typeface="Aptos"/>
                <a:ea typeface="Bitstream Charter"/>
                <a:cs typeface="Bitstream Charter"/>
              </a:defRPr>
            </a:pPr>
            <a:r>
              <a:rPr lang="en-US" sz="1500" b="0">
                <a:solidFill>
                  <a:srgbClr val="24211E"/>
                </a:solidFill>
                <a:latin typeface="Aptos"/>
                <a:ea typeface="Bitstream Charter"/>
                <a:cs typeface="Bitstream Charter"/>
              </a:rPr>
              <a:t>• 24 exact duplicates removed</a:t>
            </a:r>
          </a:p>
        </p:txBody>
      </p:sp>
      <p:sp>
        <p:nvSpPr>
          <p:cNvPr id="7" name="Rectangle 6">
            <a:extLst>
              <a:ext uri="{FF2B5EF4-FFF2-40B4-BE49-F238E27FC236}">
                <a16:creationId xmlns:a16="http://schemas.microsoft.com/office/drawing/2014/main" id="{BF90FA5A-1924-45B0-A6CC-7FB30A6797A5}"/>
              </a:ext>
            </a:extLst>
          </p:cNvPr>
          <p:cNvSpPr>
            <a:spLocks noGrp="1"/>
          </p:cNvSpPr>
          <p:nvPr/>
        </p:nvSpPr>
        <p:spPr>
          <a:xfrm>
            <a:off x="685800" y="3158051"/>
            <a:ext cx="4953000" cy="400050"/>
          </a:xfrm>
          <a:prstGeom prst="rect">
            <a:avLst/>
          </a:prstGeom>
          <a:noFill/>
          <a:ln w="0">
            <a:noFill/>
          </a:ln>
        </p:spPr>
        <p:txBody>
          <a:bodyPr wrap="square" anchor="ctr">
            <a:normAutofit/>
          </a:bodyPr>
          <a:lstStyle>
            <a:defPPr algn="l">
              <a:defRPr sz="1500" b="0">
                <a:solidFill>
                  <a:srgbClr val="24211E"/>
                </a:solidFill>
                <a:latin typeface="Aptos"/>
                <a:ea typeface="Bitstream Charter"/>
                <a:cs typeface="Bitstream Charter"/>
              </a:defRPr>
            </a:defPPr>
          </a:lstStyle>
          <a:p>
            <a:pPr algn="l">
              <a:defRPr sz="1500" b="0">
                <a:solidFill>
                  <a:srgbClr val="24211E"/>
                </a:solidFill>
                <a:latin typeface="Aptos"/>
                <a:ea typeface="Bitstream Charter"/>
                <a:cs typeface="Bitstream Charter"/>
              </a:defRPr>
            </a:pPr>
            <a:r>
              <a:rPr lang="en-US" sz="1500" b="0">
                <a:solidFill>
                  <a:srgbClr val="24211E"/>
                </a:solidFill>
                <a:latin typeface="Aptos"/>
                <a:ea typeface="Bitstream Charter"/>
                <a:cs typeface="Bitstream Charter"/>
              </a:rPr>
              <a:t>• 32,537 prepared records</a:t>
            </a:r>
          </a:p>
        </p:txBody>
      </p:sp>
      <p:sp>
        <p:nvSpPr>
          <p:cNvPr id="8" name="Rectangle 7">
            <a:extLst>
              <a:ext uri="{FF2B5EF4-FFF2-40B4-BE49-F238E27FC236}">
                <a16:creationId xmlns:a16="http://schemas.microsoft.com/office/drawing/2014/main" id="{C95CCCD6-8B9C-4A7D-92D7-7BFE619B480A}"/>
              </a:ext>
            </a:extLst>
          </p:cNvPr>
          <p:cNvSpPr>
            <a:spLocks noGrp="1"/>
          </p:cNvSpPr>
          <p:nvPr/>
        </p:nvSpPr>
        <p:spPr>
          <a:xfrm>
            <a:off x="685800" y="3624776"/>
            <a:ext cx="4953000" cy="400050"/>
          </a:xfrm>
          <a:prstGeom prst="rect">
            <a:avLst/>
          </a:prstGeom>
          <a:noFill/>
          <a:ln w="0">
            <a:noFill/>
          </a:ln>
        </p:spPr>
        <p:txBody>
          <a:bodyPr wrap="square" anchor="ctr">
            <a:normAutofit/>
          </a:bodyPr>
          <a:lstStyle>
            <a:defPPr algn="l">
              <a:defRPr sz="1500" b="0">
                <a:solidFill>
                  <a:srgbClr val="24211E"/>
                </a:solidFill>
                <a:latin typeface="Aptos"/>
                <a:ea typeface="Bitstream Charter"/>
                <a:cs typeface="Bitstream Charter"/>
              </a:defRPr>
            </a:defPPr>
          </a:lstStyle>
          <a:p>
            <a:pPr algn="l">
              <a:defRPr sz="1500" b="0">
                <a:solidFill>
                  <a:srgbClr val="24211E"/>
                </a:solidFill>
                <a:latin typeface="Aptos"/>
                <a:ea typeface="Bitstream Charter"/>
                <a:cs typeface="Bitstream Charter"/>
              </a:defRPr>
            </a:pPr>
            <a:r>
              <a:rPr lang="en-US" sz="1500" b="0">
                <a:solidFill>
                  <a:srgbClr val="24211E"/>
                </a:solidFill>
                <a:latin typeface="Aptos"/>
                <a:ea typeface="Bitstream Charter"/>
                <a:cs typeface="Bitstream Charter"/>
              </a:rPr>
              <a:t>• 24.09% report income above $50K</a:t>
            </a:r>
          </a:p>
        </p:txBody>
      </p:sp>
      <p:sp>
        <p:nvSpPr>
          <p:cNvPr id="9" name="Rounded Rectangle 8">
            <a:extLst>
              <a:ext uri="{FF2B5EF4-FFF2-40B4-BE49-F238E27FC236}">
                <a16:creationId xmlns:a16="http://schemas.microsoft.com/office/drawing/2014/main" id="{F4D772B9-8C98-43B8-9979-DC138E223A6F}"/>
              </a:ext>
            </a:extLst>
          </p:cNvPr>
          <p:cNvSpPr>
            <a:spLocks noGrp="1"/>
          </p:cNvSpPr>
          <p:nvPr/>
        </p:nvSpPr>
        <p:spPr>
          <a:xfrm>
            <a:off x="5962650" y="1807882"/>
            <a:ext cx="5429250" cy="3267075"/>
          </a:xfrm>
          <a:prstGeom prst="roundRect">
            <a:avLst>
              <a:gd name="adj" fmla="val 2041"/>
            </a:avLst>
          </a:prstGeom>
          <a:solidFill>
            <a:srgbClr val="EBE3D8"/>
          </a:solidFill>
          <a:ln w="0">
            <a:noFill/>
          </a:ln>
        </p:spPr>
        <p:txBody>
          <a:bodyPr wrap="square"/>
          <a:lstStyle/>
          <a:p>
            <a:endParaRPr lang="en-US"/>
          </a:p>
        </p:txBody>
      </p:sp>
      <p:sp>
        <p:nvSpPr>
          <p:cNvPr id="10" name="Rectangle 9">
            <a:extLst>
              <a:ext uri="{FF2B5EF4-FFF2-40B4-BE49-F238E27FC236}">
                <a16:creationId xmlns:a16="http://schemas.microsoft.com/office/drawing/2014/main" id="{E882E329-1B50-473D-921F-29A7D9E11200}"/>
              </a:ext>
            </a:extLst>
          </p:cNvPr>
          <p:cNvSpPr>
            <a:spLocks noGrp="1"/>
          </p:cNvSpPr>
          <p:nvPr/>
        </p:nvSpPr>
        <p:spPr>
          <a:xfrm>
            <a:off x="6267450" y="2024576"/>
            <a:ext cx="4762500" cy="333375"/>
          </a:xfrm>
          <a:prstGeom prst="rect">
            <a:avLst/>
          </a:prstGeom>
          <a:noFill/>
          <a:ln w="0">
            <a:noFill/>
          </a:ln>
        </p:spPr>
        <p:txBody>
          <a:bodyPr wrap="square" anchor="ctr">
            <a:normAutofit fontScale="92500" lnSpcReduction="10000"/>
          </a:bodyPr>
          <a:lstStyle>
            <a:defPPr algn="l">
              <a:defRPr sz="1875" b="1">
                <a:solidFill>
                  <a:srgbClr val="A6462E"/>
                </a:solidFill>
                <a:latin typeface="Aptos"/>
                <a:ea typeface="Bitstream Charter"/>
                <a:cs typeface="Bitstream Charter"/>
              </a:defRPr>
            </a:defPPr>
          </a:lstStyle>
          <a:p>
            <a:pPr algn="l">
              <a:defRPr sz="1875" b="1">
                <a:solidFill>
                  <a:srgbClr val="A6462E"/>
                </a:solidFill>
                <a:latin typeface="Aptos"/>
                <a:ea typeface="Bitstream Charter"/>
                <a:cs typeface="Bitstream Charter"/>
              </a:defRPr>
            </a:pPr>
            <a:r>
              <a:rPr lang="en-US" sz="1875" b="1">
                <a:solidFill>
                  <a:srgbClr val="A6462E"/>
                </a:solidFill>
                <a:latin typeface="Aptos"/>
                <a:ea typeface="Bitstream Charter"/>
                <a:cs typeface="Bitstream Charter"/>
              </a:rPr>
              <a:t>Preparation and split</a:t>
            </a:r>
          </a:p>
        </p:txBody>
      </p:sp>
      <p:sp>
        <p:nvSpPr>
          <p:cNvPr id="11" name="Rectangle 10">
            <a:extLst>
              <a:ext uri="{FF2B5EF4-FFF2-40B4-BE49-F238E27FC236}">
                <a16:creationId xmlns:a16="http://schemas.microsoft.com/office/drawing/2014/main" id="{AC4733DC-62F9-4BE0-825D-1B764558C64D}"/>
              </a:ext>
            </a:extLst>
          </p:cNvPr>
          <p:cNvSpPr>
            <a:spLocks noGrp="1"/>
          </p:cNvSpPr>
          <p:nvPr/>
        </p:nvSpPr>
        <p:spPr>
          <a:xfrm>
            <a:off x="6286500" y="2491301"/>
            <a:ext cx="4762500" cy="550068"/>
          </a:xfrm>
          <a:prstGeom prst="rect">
            <a:avLst/>
          </a:prstGeom>
          <a:noFill/>
          <a:ln w="0">
            <a:noFill/>
          </a:ln>
        </p:spPr>
        <p:txBody>
          <a:bodyPr wrap="square" anchor="ctr">
            <a:normAutofit/>
          </a:bodyPr>
          <a:lstStyle>
            <a:defPPr algn="l">
              <a:defRPr sz="1500" b="0">
                <a:solidFill>
                  <a:srgbClr val="24211E"/>
                </a:solidFill>
                <a:latin typeface="Aptos"/>
                <a:ea typeface="Bitstream Charter"/>
                <a:cs typeface="Bitstream Charter"/>
              </a:defRPr>
            </a:defPPr>
          </a:lstStyle>
          <a:p>
            <a:pPr algn="l">
              <a:defRPr sz="1500" b="0">
                <a:solidFill>
                  <a:srgbClr val="24211E"/>
                </a:solidFill>
                <a:latin typeface="Aptos"/>
                <a:ea typeface="Bitstream Charter"/>
                <a:cs typeface="Bitstream Charter"/>
              </a:defRPr>
            </a:pPr>
            <a:r>
              <a:rPr lang="en-US" sz="1500" b="0">
                <a:solidFill>
                  <a:srgbClr val="24211E"/>
                </a:solidFill>
                <a:latin typeface="Aptos"/>
                <a:ea typeface="Bitstream Charter"/>
                <a:cs typeface="Bitstream Charter"/>
              </a:rPr>
              <a:t>• Unknown categories retained instead of deleting incomplete rows</a:t>
            </a:r>
          </a:p>
        </p:txBody>
      </p:sp>
      <p:sp>
        <p:nvSpPr>
          <p:cNvPr id="12" name="Rectangle 11">
            <a:extLst>
              <a:ext uri="{FF2B5EF4-FFF2-40B4-BE49-F238E27FC236}">
                <a16:creationId xmlns:a16="http://schemas.microsoft.com/office/drawing/2014/main" id="{56BA050D-5F5A-46B5-B599-B70E3593D836}"/>
              </a:ext>
            </a:extLst>
          </p:cNvPr>
          <p:cNvSpPr>
            <a:spLocks noGrp="1"/>
          </p:cNvSpPr>
          <p:nvPr/>
        </p:nvSpPr>
        <p:spPr>
          <a:xfrm>
            <a:off x="6286500" y="3124713"/>
            <a:ext cx="4762500" cy="600075"/>
          </a:xfrm>
          <a:prstGeom prst="rect">
            <a:avLst/>
          </a:prstGeom>
          <a:noFill/>
          <a:ln w="0">
            <a:noFill/>
          </a:ln>
        </p:spPr>
        <p:txBody>
          <a:bodyPr wrap="square" anchor="ctr">
            <a:normAutofit/>
          </a:bodyPr>
          <a:lstStyle>
            <a:defPPr algn="l">
              <a:defRPr sz="1500" b="0">
                <a:solidFill>
                  <a:srgbClr val="24211E"/>
                </a:solidFill>
                <a:latin typeface="Aptos"/>
                <a:ea typeface="Bitstream Charter"/>
                <a:cs typeface="Bitstream Charter"/>
              </a:defRPr>
            </a:defPPr>
          </a:lstStyle>
          <a:p>
            <a:pPr algn="l">
              <a:defRPr sz="1500" b="0">
                <a:solidFill>
                  <a:srgbClr val="24211E"/>
                </a:solidFill>
                <a:latin typeface="Aptos"/>
                <a:ea typeface="Bitstream Charter"/>
                <a:cs typeface="Bitstream Charter"/>
              </a:defRPr>
            </a:pPr>
            <a:r>
              <a:rPr lang="en-US" sz="1500" b="0">
                <a:solidFill>
                  <a:srgbClr val="24211E"/>
                </a:solidFill>
                <a:latin typeface="Aptos"/>
                <a:ea typeface="Bitstream Charter"/>
                <a:cs typeface="Bitstream Charter"/>
              </a:rPr>
              <a:t>• Numerical fields standardized; categorical fields one-hot encoded</a:t>
            </a:r>
          </a:p>
        </p:txBody>
      </p:sp>
      <p:sp>
        <p:nvSpPr>
          <p:cNvPr id="13" name="Rectangle 12">
            <a:extLst>
              <a:ext uri="{FF2B5EF4-FFF2-40B4-BE49-F238E27FC236}">
                <a16:creationId xmlns:a16="http://schemas.microsoft.com/office/drawing/2014/main" id="{426498EB-7F52-4E42-8958-C4A430EADC39}"/>
              </a:ext>
            </a:extLst>
          </p:cNvPr>
          <p:cNvSpPr>
            <a:spLocks noGrp="1"/>
          </p:cNvSpPr>
          <p:nvPr/>
        </p:nvSpPr>
        <p:spPr>
          <a:xfrm>
            <a:off x="6286500" y="3824801"/>
            <a:ext cx="4762500" cy="583406"/>
          </a:xfrm>
          <a:prstGeom prst="rect">
            <a:avLst/>
          </a:prstGeom>
          <a:noFill/>
          <a:ln w="0">
            <a:noFill/>
          </a:ln>
        </p:spPr>
        <p:txBody>
          <a:bodyPr wrap="square" anchor="ctr">
            <a:normAutofit/>
          </a:bodyPr>
          <a:lstStyle>
            <a:defPPr algn="l">
              <a:defRPr sz="1500" b="0">
                <a:solidFill>
                  <a:srgbClr val="24211E"/>
                </a:solidFill>
                <a:latin typeface="Aptos"/>
                <a:ea typeface="Bitstream Charter"/>
                <a:cs typeface="Bitstream Charter"/>
              </a:defRPr>
            </a:defPPr>
          </a:lstStyle>
          <a:p>
            <a:pPr algn="l">
              <a:defRPr sz="1500" b="0">
                <a:solidFill>
                  <a:srgbClr val="24211E"/>
                </a:solidFill>
                <a:latin typeface="Aptos"/>
                <a:ea typeface="Bitstream Charter"/>
                <a:cs typeface="Bitstream Charter"/>
              </a:defRPr>
            </a:pPr>
            <a:r>
              <a:rPr lang="en-US" sz="1500" b="0">
                <a:solidFill>
                  <a:srgbClr val="24211E"/>
                </a:solidFill>
                <a:latin typeface="Aptos"/>
                <a:ea typeface="Bitstream Charter"/>
                <a:cs typeface="Bitstream Charter"/>
              </a:rPr>
              <a:t>• Stratified 70% training, 15% validation, and 15% test split</a:t>
            </a:r>
          </a:p>
        </p:txBody>
      </p:sp>
      <p:sp>
        <p:nvSpPr>
          <p:cNvPr id="14" name="Rectangle 13">
            <a:extLst>
              <a:ext uri="{FF2B5EF4-FFF2-40B4-BE49-F238E27FC236}">
                <a16:creationId xmlns:a16="http://schemas.microsoft.com/office/drawing/2014/main" id="{24A922A5-8404-4326-AC89-33B6CAE47F66}"/>
              </a:ext>
            </a:extLst>
          </p:cNvPr>
          <p:cNvSpPr>
            <a:spLocks noGrp="1"/>
          </p:cNvSpPr>
          <p:nvPr/>
        </p:nvSpPr>
        <p:spPr>
          <a:xfrm>
            <a:off x="6286500" y="4508220"/>
            <a:ext cx="4762500" cy="433387"/>
          </a:xfrm>
          <a:prstGeom prst="rect">
            <a:avLst/>
          </a:prstGeom>
          <a:noFill/>
          <a:ln w="0">
            <a:noFill/>
          </a:ln>
        </p:spPr>
        <p:txBody>
          <a:bodyPr wrap="square" anchor="ctr">
            <a:normAutofit/>
          </a:bodyPr>
          <a:lstStyle>
            <a:defPPr algn="l">
              <a:defRPr sz="1500" b="0">
                <a:solidFill>
                  <a:srgbClr val="24211E"/>
                </a:solidFill>
                <a:latin typeface="Aptos"/>
                <a:ea typeface="Bitstream Charter"/>
                <a:cs typeface="Bitstream Charter"/>
              </a:defRPr>
            </a:defPPr>
          </a:lstStyle>
          <a:p>
            <a:pPr algn="l">
              <a:defRPr sz="1500" b="0">
                <a:solidFill>
                  <a:srgbClr val="24211E"/>
                </a:solidFill>
                <a:latin typeface="Aptos"/>
                <a:ea typeface="Bitstream Charter"/>
                <a:cs typeface="Bitstream Charter"/>
              </a:defRPr>
            </a:pPr>
            <a:r>
              <a:rPr lang="en-US" sz="1500" b="0">
                <a:solidFill>
                  <a:srgbClr val="24211E"/>
                </a:solidFill>
                <a:latin typeface="Aptos"/>
                <a:ea typeface="Bitstream Charter"/>
                <a:cs typeface="Bitstream Charter"/>
              </a:rPr>
              <a:t>• Preprocessing fitted only on training data</a:t>
            </a:r>
          </a:p>
        </p:txBody>
      </p:sp>
      <p:sp>
        <p:nvSpPr>
          <p:cNvPr id="15" name="Rectangle 14">
            <a:extLst>
              <a:ext uri="{FF2B5EF4-FFF2-40B4-BE49-F238E27FC236}">
                <a16:creationId xmlns:a16="http://schemas.microsoft.com/office/drawing/2014/main" id="{3D3D6F2E-FB01-44D7-AE0B-7617C84B6FB1}"/>
              </a:ext>
            </a:extLst>
          </p:cNvPr>
          <p:cNvSpPr>
            <a:spLocks noGrp="1"/>
          </p:cNvSpPr>
          <p:nvPr/>
        </p:nvSpPr>
        <p:spPr>
          <a:xfrm>
            <a:off x="685800" y="5374995"/>
            <a:ext cx="10668000" cy="366712"/>
          </a:xfrm>
          <a:prstGeom prst="rect">
            <a:avLst/>
          </a:prstGeom>
          <a:noFill/>
          <a:ln w="0">
            <a:noFill/>
          </a:ln>
        </p:spPr>
        <p:txBody>
          <a:bodyPr wrap="square" anchor="ctr">
            <a:normAutofit/>
          </a:bodyPr>
          <a:lstStyle>
            <a:defPPr algn="ctr">
              <a:defRPr sz="1650" b="1">
                <a:solidFill>
                  <a:srgbClr val="24211E"/>
                </a:solidFill>
                <a:latin typeface="Aptos"/>
                <a:ea typeface="Bitstream Charter"/>
                <a:cs typeface="Bitstream Charter"/>
              </a:defRPr>
            </a:defPPr>
          </a:lstStyle>
          <a:p>
            <a:pPr algn="ctr">
              <a:defRPr sz="1650" b="1">
                <a:solidFill>
                  <a:srgbClr val="24211E"/>
                </a:solidFill>
                <a:latin typeface="Aptos"/>
                <a:ea typeface="Bitstream Charter"/>
                <a:cs typeface="Bitstream Charter"/>
              </a:defRPr>
            </a:pPr>
            <a:r>
              <a:rPr lang="en-US" sz="1650" b="1">
                <a:solidFill>
                  <a:srgbClr val="24211E"/>
                </a:solidFill>
                <a:latin typeface="Aptos"/>
                <a:ea typeface="Bitstream Charter"/>
                <a:cs typeface="Bitstream Charter"/>
              </a:rPr>
              <a:t>22,775 training   4,881 validation   4,881 test</a:t>
            </a:r>
          </a:p>
        </p:txBody>
      </p:sp>
      <p:sp>
        <p:nvSpPr>
          <p:cNvPr id="16" name="Rectangle 15">
            <a:extLst>
              <a:ext uri="{FF2B5EF4-FFF2-40B4-BE49-F238E27FC236}">
                <a16:creationId xmlns:a16="http://schemas.microsoft.com/office/drawing/2014/main" id="{EFDF75BA-388F-4210-859B-3D5D8A0DCE65}"/>
              </a:ext>
            </a:extLst>
          </p:cNvPr>
          <p:cNvSpPr>
            <a:spLocks noGrp="1"/>
          </p:cNvSpPr>
          <p:nvPr/>
        </p:nvSpPr>
        <p:spPr>
          <a:xfrm>
            <a:off x="685800" y="6510528"/>
            <a:ext cx="6400800" cy="164592"/>
          </a:xfrm>
          <a:prstGeom prst="rect">
            <a:avLst/>
          </a:prstGeom>
          <a:noFill/>
          <a:ln w="0">
            <a:noFill/>
          </a:ln>
        </p:spPr>
        <p:txBody>
          <a:bodyPr wrap="square" anchor="ctr">
            <a:normAutofit fontScale="55000" lnSpcReduction="20000"/>
          </a:bodyPr>
          <a:lstStyle/>
          <a:p>
            <a:r>
              <a:rPr lang="en-US" sz="900">
                <a:solidFill>
                  <a:srgbClr val="6F6961"/>
                </a:solidFill>
                <a:latin typeface="Aptos"/>
              </a:rPr>
              <a:t>ANA500   Micro-Project 4   Valentin Diaconu</a:t>
            </a:r>
          </a:p>
        </p:txBody>
      </p:sp>
      <p:sp>
        <p:nvSpPr>
          <p:cNvPr id="17" name="Rectangle 16">
            <a:extLst>
              <a:ext uri="{FF2B5EF4-FFF2-40B4-BE49-F238E27FC236}">
                <a16:creationId xmlns:a16="http://schemas.microsoft.com/office/drawing/2014/main" id="{79E5BC13-E3C0-4772-865B-45198AB2673E}"/>
              </a:ext>
            </a:extLst>
          </p:cNvPr>
          <p:cNvSpPr>
            <a:spLocks noGrp="1"/>
          </p:cNvSpPr>
          <p:nvPr/>
        </p:nvSpPr>
        <p:spPr>
          <a:xfrm>
            <a:off x="11018520" y="6492240"/>
            <a:ext cx="484632" cy="182880"/>
          </a:xfrm>
          <a:prstGeom prst="rect">
            <a:avLst/>
          </a:prstGeom>
          <a:noFill/>
          <a:ln w="0">
            <a:noFill/>
          </a:ln>
        </p:spPr>
        <p:txBody>
          <a:bodyPr wrap="square" anchor="ctr">
            <a:normAutofit fontScale="70000" lnSpcReduction="20000"/>
          </a:bodyPr>
          <a:lstStyle/>
          <a:p>
            <a:pPr algn="r"/>
            <a:r>
              <a:rPr lang="en-US" sz="980">
                <a:solidFill>
                  <a:srgbClr val="A6462E"/>
                </a:solidFill>
                <a:latin typeface="Aptos"/>
              </a:rPr>
              <a:t>4</a:t>
            </a:r>
          </a:p>
        </p:txBody>
      </p:sp>
      <p:sp>
        <p:nvSpPr>
          <p:cNvPr id="19" name="TextBox 13"/>
          <p:cNvSpPr txBox="1"/>
          <p:nvPr/>
        </p:nvSpPr>
        <p:spPr>
          <a:xfrm>
            <a:off x="11082528" y="429768"/>
            <a:ext cx="411480" cy="201168"/>
          </a:xfrm>
          <a:prstGeom prst="rect">
            <a:avLst/>
          </a:prstGeom>
          <a:noFill/>
        </p:spPr>
        <p:txBody>
          <a:bodyPr wrap="square" lIns="0" tIns="0" rIns="0" bIns="0" anchor="ctr">
            <a:spAutoFit/>
          </a:bodyPr>
          <a:lstStyle/>
          <a:p>
            <a:pPr algn="r"/>
            <a:r>
              <a:rPr sz="1050" b="0">
                <a:solidFill>
                  <a:srgbClr val="6F6961"/>
                </a:solidFill>
                <a:latin typeface="Aptos"/>
              </a:rPr>
              <a:t>04</a:t>
            </a:r>
          </a:p>
        </p:txBody>
      </p:sp>
      <p:sp>
        <p:nvSpPr>
          <p:cNvPr id="20" name="Rectangle 14"/>
          <p:cNvSpPr/>
          <p:nvPr/>
        </p:nvSpPr>
        <p:spPr>
          <a:xfrm>
            <a:off x="685800" y="1435608"/>
            <a:ext cx="10817352" cy="10972"/>
          </a:xfrm>
          <a:prstGeom prst="rect">
            <a:avLst/>
          </a:prstGeom>
          <a:solidFill>
            <a:srgbClr val="CFC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15"/>
          <p:cNvSpPr/>
          <p:nvPr/>
        </p:nvSpPr>
        <p:spPr>
          <a:xfrm>
            <a:off x="685800" y="6419088"/>
            <a:ext cx="10817352" cy="10972"/>
          </a:xfrm>
          <a:prstGeom prst="rect">
            <a:avLst/>
          </a:prstGeom>
          <a:solidFill>
            <a:srgbClr val="CFC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773463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0E7"/>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B059458-AB44-4915-9913-32849482702F}"/>
              </a:ext>
            </a:extLst>
          </p:cNvPr>
          <p:cNvSpPr>
            <a:spLocks noGrp="1"/>
          </p:cNvSpPr>
          <p:nvPr/>
        </p:nvSpPr>
        <p:spPr>
          <a:xfrm>
            <a:off x="0" y="0"/>
            <a:ext cx="12192000" cy="876300"/>
          </a:xfrm>
          <a:prstGeom prst="rect">
            <a:avLst/>
          </a:prstGeom>
          <a:solidFill>
            <a:srgbClr val="F5F0E7"/>
          </a:solidFill>
          <a:ln w="0">
            <a:noFill/>
          </a:ln>
        </p:spPr>
        <p:txBody>
          <a:bodyPr/>
          <a:lstStyle/>
          <a:p>
            <a:endParaRPr lang="en-US"/>
          </a:p>
        </p:txBody>
      </p:sp>
      <p:sp>
        <p:nvSpPr>
          <p:cNvPr id="2" name="Rectangle 1">
            <a:extLst>
              <a:ext uri="{FF2B5EF4-FFF2-40B4-BE49-F238E27FC236}">
                <a16:creationId xmlns:a16="http://schemas.microsoft.com/office/drawing/2014/main" id="{6144BD53-2F9E-4F57-B216-0C5CD84C43D9}"/>
              </a:ext>
            </a:extLst>
          </p:cNvPr>
          <p:cNvSpPr>
            <a:spLocks noGrp="1"/>
          </p:cNvSpPr>
          <p:nvPr/>
        </p:nvSpPr>
        <p:spPr>
          <a:xfrm>
            <a:off x="685800" y="722376"/>
            <a:ext cx="10058400" cy="585216"/>
          </a:xfrm>
          <a:prstGeom prst="rect">
            <a:avLst/>
          </a:prstGeom>
          <a:noFill/>
          <a:ln w="0">
            <a:noFill/>
          </a:ln>
        </p:spPr>
        <p:txBody>
          <a:bodyPr wrap="square" anchor="ctr">
            <a:normAutofit lnSpcReduction="10000"/>
          </a:bodyPr>
          <a:lstStyle/>
          <a:p>
            <a:pPr algn="l">
              <a:defRPr sz="2550" b="1">
                <a:solidFill>
                  <a:srgbClr val="FFFFFF"/>
                </a:solidFill>
                <a:latin typeface="Bitstream Charter"/>
                <a:ea typeface="Bitstream Charter"/>
                <a:cs typeface="Bitstream Charter"/>
              </a:defRPr>
            </a:pPr>
            <a:r>
              <a:rPr lang="en-US" sz="3300" b="1">
                <a:solidFill>
                  <a:srgbClr val="24211E"/>
                </a:solidFill>
                <a:latin typeface="Georgia"/>
                <a:ea typeface="Bitstream Charter"/>
                <a:cs typeface="Bitstream Charter"/>
              </a:rPr>
              <a:t>Exploratory Interactions</a:t>
            </a:r>
          </a:p>
        </p:txBody>
      </p:sp>
      <p:sp>
        <p:nvSpPr>
          <p:cNvPr id="3" name="Rectangle 2">
            <a:extLst>
              <a:ext uri="{FF2B5EF4-FFF2-40B4-BE49-F238E27FC236}">
                <a16:creationId xmlns:a16="http://schemas.microsoft.com/office/drawing/2014/main" id="{591AA0E2-7E57-4A0D-9159-9EDF330CB82E}"/>
              </a:ext>
            </a:extLst>
          </p:cNvPr>
          <p:cNvSpPr>
            <a:spLocks noGrp="1"/>
          </p:cNvSpPr>
          <p:nvPr/>
        </p:nvSpPr>
        <p:spPr>
          <a:xfrm>
            <a:off x="685800" y="402336"/>
            <a:ext cx="3474720" cy="219456"/>
          </a:xfrm>
          <a:prstGeom prst="rect">
            <a:avLst/>
          </a:prstGeom>
          <a:noFill/>
          <a:ln w="0">
            <a:noFill/>
          </a:ln>
        </p:spPr>
        <p:txBody>
          <a:bodyPr wrap="square" anchor="ctr">
            <a:normAutofit fontScale="62500" lnSpcReduction="20000"/>
          </a:bodyPr>
          <a:lstStyle/>
          <a:p>
            <a:r>
              <a:rPr lang="en-US" sz="1650" b="1">
                <a:solidFill>
                  <a:srgbClr val="A6462E"/>
                </a:solidFill>
                <a:latin typeface="Aptos"/>
              </a:rPr>
              <a:t>PREPARE</a:t>
            </a:r>
          </a:p>
        </p:txBody>
      </p:sp>
      <p:pic>
        <p:nvPicPr>
          <p:cNvPr id="4" name="Picture 3">
            <a:extLst>
              <a:ext uri="{FF2B5EF4-FFF2-40B4-BE49-F238E27FC236}">
                <a16:creationId xmlns:a16="http://schemas.microsoft.com/office/drawing/2014/main" id="{CD8AE9DC-4E05-4F43-AE65-18D316958E2C}"/>
              </a:ext>
            </a:extLst>
          </p:cNvPr>
          <p:cNvPicPr>
            <a:picLocks noChangeAspect="1"/>
          </p:cNvPicPr>
          <p:nvPr/>
        </p:nvPicPr>
        <p:blipFill>
          <a:blip r:embed="rId3"/>
          <a:stretch/>
        </p:blipFill>
        <p:spPr>
          <a:xfrm>
            <a:off x="1295400" y="2003765"/>
            <a:ext cx="9601200" cy="3342034"/>
          </a:xfrm>
          <a:prstGeom prst="rect">
            <a:avLst/>
          </a:prstGeom>
        </p:spPr>
      </p:pic>
      <p:sp>
        <p:nvSpPr>
          <p:cNvPr id="5" name="Rectangle 4">
            <a:extLst>
              <a:ext uri="{FF2B5EF4-FFF2-40B4-BE49-F238E27FC236}">
                <a16:creationId xmlns:a16="http://schemas.microsoft.com/office/drawing/2014/main" id="{E9861B20-D2FA-45AA-A81B-670E716B4A92}"/>
              </a:ext>
            </a:extLst>
          </p:cNvPr>
          <p:cNvSpPr>
            <a:spLocks noGrp="1"/>
          </p:cNvSpPr>
          <p:nvPr/>
        </p:nvSpPr>
        <p:spPr>
          <a:xfrm>
            <a:off x="838200" y="5758376"/>
            <a:ext cx="10515600" cy="400050"/>
          </a:xfrm>
          <a:prstGeom prst="rect">
            <a:avLst/>
          </a:prstGeom>
          <a:noFill/>
          <a:ln w="0">
            <a:noFill/>
          </a:ln>
        </p:spPr>
        <p:txBody>
          <a:bodyPr wrap="square" anchor="ctr">
            <a:normAutofit/>
          </a:bodyPr>
          <a:lstStyle>
            <a:defPPr algn="ctr">
              <a:defRPr sz="1500" b="1">
                <a:solidFill>
                  <a:srgbClr val="24211E"/>
                </a:solidFill>
                <a:latin typeface="Aptos"/>
                <a:ea typeface="Bitstream Charter"/>
                <a:cs typeface="Bitstream Charter"/>
              </a:defRPr>
            </a:defPPr>
          </a:lstStyle>
          <a:p>
            <a:pPr algn="ctr">
              <a:defRPr sz="1500" b="1">
                <a:solidFill>
                  <a:srgbClr val="24211E"/>
                </a:solidFill>
                <a:latin typeface="Aptos"/>
                <a:ea typeface="Bitstream Charter"/>
                <a:cs typeface="Bitstream Charter"/>
              </a:defRPr>
            </a:pPr>
            <a:r>
              <a:rPr lang="en-US" sz="1500" b="1">
                <a:solidFill>
                  <a:srgbClr val="24211E"/>
                </a:solidFill>
                <a:latin typeface="Aptos"/>
                <a:ea typeface="Bitstream Charter"/>
                <a:cs typeface="Bitstream Charter"/>
              </a:rPr>
              <a:t>Income rates vary jointly with age and education, while weekly-hours distributions overlap across classes.</a:t>
            </a:r>
          </a:p>
        </p:txBody>
      </p:sp>
      <p:sp>
        <p:nvSpPr>
          <p:cNvPr id="6" name="Rectangle 5">
            <a:extLst>
              <a:ext uri="{FF2B5EF4-FFF2-40B4-BE49-F238E27FC236}">
                <a16:creationId xmlns:a16="http://schemas.microsoft.com/office/drawing/2014/main" id="{C242007B-E1DA-4D13-A80A-D5A039D2632B}"/>
              </a:ext>
            </a:extLst>
          </p:cNvPr>
          <p:cNvSpPr>
            <a:spLocks noGrp="1"/>
          </p:cNvSpPr>
          <p:nvPr/>
        </p:nvSpPr>
        <p:spPr>
          <a:xfrm>
            <a:off x="685800" y="6510528"/>
            <a:ext cx="6400800" cy="164592"/>
          </a:xfrm>
          <a:prstGeom prst="rect">
            <a:avLst/>
          </a:prstGeom>
          <a:noFill/>
          <a:ln w="0">
            <a:noFill/>
          </a:ln>
        </p:spPr>
        <p:txBody>
          <a:bodyPr wrap="square" anchor="ctr">
            <a:normAutofit fontScale="55000" lnSpcReduction="20000"/>
          </a:bodyPr>
          <a:lstStyle/>
          <a:p>
            <a:r>
              <a:rPr lang="en-US" sz="900">
                <a:solidFill>
                  <a:srgbClr val="6F6961"/>
                </a:solidFill>
                <a:latin typeface="Aptos"/>
              </a:rPr>
              <a:t>ANA500   Micro-Project 4   Valentin Diaconu</a:t>
            </a:r>
          </a:p>
        </p:txBody>
      </p:sp>
      <p:sp>
        <p:nvSpPr>
          <p:cNvPr id="7" name="Rectangle 6">
            <a:extLst>
              <a:ext uri="{FF2B5EF4-FFF2-40B4-BE49-F238E27FC236}">
                <a16:creationId xmlns:a16="http://schemas.microsoft.com/office/drawing/2014/main" id="{674A41EA-68A4-40E4-8FEB-60718F357E67}"/>
              </a:ext>
            </a:extLst>
          </p:cNvPr>
          <p:cNvSpPr>
            <a:spLocks noGrp="1"/>
          </p:cNvSpPr>
          <p:nvPr/>
        </p:nvSpPr>
        <p:spPr>
          <a:xfrm>
            <a:off x="11018520" y="6492240"/>
            <a:ext cx="484632" cy="182880"/>
          </a:xfrm>
          <a:prstGeom prst="rect">
            <a:avLst/>
          </a:prstGeom>
          <a:noFill/>
          <a:ln w="0">
            <a:noFill/>
          </a:ln>
        </p:spPr>
        <p:txBody>
          <a:bodyPr wrap="square" anchor="ctr">
            <a:normAutofit fontScale="70000" lnSpcReduction="20000"/>
          </a:bodyPr>
          <a:lstStyle/>
          <a:p>
            <a:pPr algn="r"/>
            <a:r>
              <a:rPr lang="en-US" sz="980">
                <a:solidFill>
                  <a:srgbClr val="A6462E"/>
                </a:solidFill>
                <a:latin typeface="Aptos"/>
              </a:rPr>
              <a:t>5</a:t>
            </a:r>
          </a:p>
        </p:txBody>
      </p:sp>
      <p:sp>
        <p:nvSpPr>
          <p:cNvPr id="9" name="TextBox 13"/>
          <p:cNvSpPr txBox="1"/>
          <p:nvPr/>
        </p:nvSpPr>
        <p:spPr>
          <a:xfrm>
            <a:off x="11082528" y="429768"/>
            <a:ext cx="411480" cy="201168"/>
          </a:xfrm>
          <a:prstGeom prst="rect">
            <a:avLst/>
          </a:prstGeom>
          <a:noFill/>
        </p:spPr>
        <p:txBody>
          <a:bodyPr wrap="square" lIns="0" tIns="0" rIns="0" bIns="0" anchor="ctr">
            <a:spAutoFit/>
          </a:bodyPr>
          <a:lstStyle/>
          <a:p>
            <a:pPr algn="r"/>
            <a:r>
              <a:rPr sz="1050" b="0">
                <a:solidFill>
                  <a:srgbClr val="6F6961"/>
                </a:solidFill>
                <a:latin typeface="Aptos"/>
              </a:rPr>
              <a:t>05</a:t>
            </a:r>
          </a:p>
        </p:txBody>
      </p:sp>
      <p:sp>
        <p:nvSpPr>
          <p:cNvPr id="10" name="Rectangle 14"/>
          <p:cNvSpPr/>
          <p:nvPr/>
        </p:nvSpPr>
        <p:spPr>
          <a:xfrm>
            <a:off x="685800" y="1435608"/>
            <a:ext cx="10817352" cy="10972"/>
          </a:xfrm>
          <a:prstGeom prst="rect">
            <a:avLst/>
          </a:prstGeom>
          <a:solidFill>
            <a:srgbClr val="CFC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5"/>
          <p:cNvSpPr/>
          <p:nvPr/>
        </p:nvSpPr>
        <p:spPr>
          <a:xfrm>
            <a:off x="685800" y="6419088"/>
            <a:ext cx="10817352" cy="10972"/>
          </a:xfrm>
          <a:prstGeom prst="rect">
            <a:avLst/>
          </a:prstGeom>
          <a:solidFill>
            <a:srgbClr val="CFC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581747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0E7"/>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425A776-D9BF-41C4-9843-0CA320445074}"/>
              </a:ext>
            </a:extLst>
          </p:cNvPr>
          <p:cNvSpPr>
            <a:spLocks noGrp="1"/>
          </p:cNvSpPr>
          <p:nvPr/>
        </p:nvSpPr>
        <p:spPr>
          <a:xfrm>
            <a:off x="0" y="0"/>
            <a:ext cx="12192000" cy="876300"/>
          </a:xfrm>
          <a:prstGeom prst="rect">
            <a:avLst/>
          </a:prstGeom>
          <a:solidFill>
            <a:srgbClr val="F5F0E7"/>
          </a:solidFill>
          <a:ln w="0">
            <a:noFill/>
          </a:ln>
        </p:spPr>
        <p:txBody>
          <a:bodyPr/>
          <a:lstStyle/>
          <a:p>
            <a:endParaRPr lang="en-US"/>
          </a:p>
        </p:txBody>
      </p:sp>
      <p:sp>
        <p:nvSpPr>
          <p:cNvPr id="2" name="Rectangle 1">
            <a:extLst>
              <a:ext uri="{FF2B5EF4-FFF2-40B4-BE49-F238E27FC236}">
                <a16:creationId xmlns:a16="http://schemas.microsoft.com/office/drawing/2014/main" id="{36A6DFE6-312F-464C-A834-6F1EB12BD82B}"/>
              </a:ext>
            </a:extLst>
          </p:cNvPr>
          <p:cNvSpPr>
            <a:spLocks noGrp="1"/>
          </p:cNvSpPr>
          <p:nvPr/>
        </p:nvSpPr>
        <p:spPr>
          <a:xfrm>
            <a:off x="685800" y="722376"/>
            <a:ext cx="10058400" cy="585216"/>
          </a:xfrm>
          <a:prstGeom prst="rect">
            <a:avLst/>
          </a:prstGeom>
          <a:noFill/>
          <a:ln w="0">
            <a:noFill/>
          </a:ln>
        </p:spPr>
        <p:txBody>
          <a:bodyPr wrap="square" anchor="ctr">
            <a:normAutofit lnSpcReduction="10000"/>
          </a:bodyPr>
          <a:lstStyle/>
          <a:p>
            <a:pPr algn="l">
              <a:defRPr sz="2550" b="1">
                <a:solidFill>
                  <a:srgbClr val="FFFFFF"/>
                </a:solidFill>
                <a:latin typeface="Bitstream Charter"/>
                <a:ea typeface="Bitstream Charter"/>
                <a:cs typeface="Bitstream Charter"/>
              </a:defRPr>
            </a:pPr>
            <a:r>
              <a:rPr lang="en-US" sz="3300" b="1">
                <a:solidFill>
                  <a:srgbClr val="24211E"/>
                </a:solidFill>
                <a:latin typeface="Georgia"/>
                <a:ea typeface="Bitstream Charter"/>
                <a:cs typeface="Bitstream Charter"/>
              </a:rPr>
              <a:t>Deep Learning Classification Design</a:t>
            </a:r>
          </a:p>
        </p:txBody>
      </p:sp>
      <p:sp>
        <p:nvSpPr>
          <p:cNvPr id="3" name="Rectangle 2">
            <a:extLst>
              <a:ext uri="{FF2B5EF4-FFF2-40B4-BE49-F238E27FC236}">
                <a16:creationId xmlns:a16="http://schemas.microsoft.com/office/drawing/2014/main" id="{B36695FE-E462-4868-AED4-EB50B57D2DA5}"/>
              </a:ext>
            </a:extLst>
          </p:cNvPr>
          <p:cNvSpPr>
            <a:spLocks noGrp="1"/>
          </p:cNvSpPr>
          <p:nvPr/>
        </p:nvSpPr>
        <p:spPr>
          <a:xfrm>
            <a:off x="685800" y="402336"/>
            <a:ext cx="3474720" cy="219456"/>
          </a:xfrm>
          <a:prstGeom prst="rect">
            <a:avLst/>
          </a:prstGeom>
          <a:noFill/>
          <a:ln w="0">
            <a:noFill/>
          </a:ln>
        </p:spPr>
        <p:txBody>
          <a:bodyPr wrap="square" anchor="ctr">
            <a:normAutofit fontScale="62500" lnSpcReduction="20000"/>
          </a:bodyPr>
          <a:lstStyle/>
          <a:p>
            <a:r>
              <a:rPr lang="en-US" sz="1650" b="1">
                <a:solidFill>
                  <a:srgbClr val="A6462E"/>
                </a:solidFill>
                <a:latin typeface="Aptos"/>
              </a:rPr>
              <a:t>STEP 3</a:t>
            </a:r>
          </a:p>
        </p:txBody>
      </p:sp>
      <p:sp>
        <p:nvSpPr>
          <p:cNvPr id="4" name="Rounded Rectangle 3">
            <a:extLst>
              <a:ext uri="{FF2B5EF4-FFF2-40B4-BE49-F238E27FC236}">
                <a16:creationId xmlns:a16="http://schemas.microsoft.com/office/drawing/2014/main" id="{959F0290-12E5-4A23-AD4D-8B34B1FD9026}"/>
              </a:ext>
            </a:extLst>
          </p:cNvPr>
          <p:cNvSpPr>
            <a:spLocks noGrp="1"/>
          </p:cNvSpPr>
          <p:nvPr/>
        </p:nvSpPr>
        <p:spPr>
          <a:xfrm>
            <a:off x="590550" y="1991238"/>
            <a:ext cx="2343150" cy="2800350"/>
          </a:xfrm>
          <a:prstGeom prst="roundRect">
            <a:avLst>
              <a:gd name="adj" fmla="val 3252"/>
            </a:avLst>
          </a:prstGeom>
          <a:solidFill>
            <a:srgbClr val="EBE3D8"/>
          </a:solidFill>
          <a:ln w="0">
            <a:noFill/>
          </a:ln>
        </p:spPr>
        <p:txBody>
          <a:bodyPr wrap="square"/>
          <a:lstStyle/>
          <a:p>
            <a:endParaRPr lang="en-US"/>
          </a:p>
        </p:txBody>
      </p:sp>
      <p:sp>
        <p:nvSpPr>
          <p:cNvPr id="5" name="Rectangle 4">
            <a:extLst>
              <a:ext uri="{FF2B5EF4-FFF2-40B4-BE49-F238E27FC236}">
                <a16:creationId xmlns:a16="http://schemas.microsoft.com/office/drawing/2014/main" id="{99220020-E90C-49CC-8F16-3336FB4D745E}"/>
              </a:ext>
            </a:extLst>
          </p:cNvPr>
          <p:cNvSpPr>
            <a:spLocks noGrp="1"/>
          </p:cNvSpPr>
          <p:nvPr/>
        </p:nvSpPr>
        <p:spPr>
          <a:xfrm>
            <a:off x="1428750" y="2157926"/>
            <a:ext cx="666750" cy="450056"/>
          </a:xfrm>
          <a:prstGeom prst="rect">
            <a:avLst/>
          </a:prstGeom>
          <a:noFill/>
          <a:ln w="0">
            <a:noFill/>
          </a:ln>
        </p:spPr>
        <p:txBody>
          <a:bodyPr wrap="square" anchor="ctr">
            <a:normAutofit/>
          </a:bodyPr>
          <a:lstStyle>
            <a:defPPr algn="ctr">
              <a:defRPr sz="2250" b="1">
                <a:solidFill>
                  <a:srgbClr val="24211E"/>
                </a:solidFill>
                <a:latin typeface="Aptos"/>
                <a:ea typeface="Bitstream Charter"/>
                <a:cs typeface="Bitstream Charter"/>
              </a:defRPr>
            </a:defPPr>
          </a:lstStyle>
          <a:p>
            <a:pPr algn="ctr">
              <a:defRPr sz="2250" b="1">
                <a:solidFill>
                  <a:srgbClr val="24211E"/>
                </a:solidFill>
                <a:latin typeface="Aptos"/>
                <a:ea typeface="Bitstream Charter"/>
                <a:cs typeface="Bitstream Charter"/>
              </a:defRPr>
            </a:pPr>
            <a:r>
              <a:rPr lang="en-US" sz="2250" b="1">
                <a:solidFill>
                  <a:srgbClr val="24211E"/>
                </a:solidFill>
                <a:latin typeface="Aptos"/>
                <a:ea typeface="Bitstream Charter"/>
                <a:cs typeface="Bitstream Charter"/>
              </a:rPr>
              <a:t>1</a:t>
            </a:r>
          </a:p>
        </p:txBody>
      </p:sp>
      <p:sp>
        <p:nvSpPr>
          <p:cNvPr id="6" name="Rectangle 5">
            <a:extLst>
              <a:ext uri="{FF2B5EF4-FFF2-40B4-BE49-F238E27FC236}">
                <a16:creationId xmlns:a16="http://schemas.microsoft.com/office/drawing/2014/main" id="{307C4DEE-63A1-4F5D-BEC4-A9905396AD46}"/>
              </a:ext>
            </a:extLst>
          </p:cNvPr>
          <p:cNvSpPr>
            <a:spLocks noGrp="1"/>
          </p:cNvSpPr>
          <p:nvPr/>
        </p:nvSpPr>
        <p:spPr>
          <a:xfrm>
            <a:off x="781050" y="2741332"/>
            <a:ext cx="1962150" cy="283368"/>
          </a:xfrm>
          <a:prstGeom prst="rect">
            <a:avLst/>
          </a:prstGeom>
          <a:noFill/>
          <a:ln w="0">
            <a:noFill/>
          </a:ln>
        </p:spPr>
        <p:txBody>
          <a:bodyPr wrap="square" anchor="ctr">
            <a:normAutofit fontScale="92500" lnSpcReduction="10000"/>
          </a:bodyPr>
          <a:lstStyle>
            <a:defPPr algn="ctr">
              <a:defRPr sz="1425" b="1">
                <a:solidFill>
                  <a:srgbClr val="6F6961"/>
                </a:solidFill>
                <a:latin typeface="Aptos"/>
                <a:ea typeface="Bitstream Charter"/>
                <a:cs typeface="Bitstream Charter"/>
              </a:defRPr>
            </a:defPPr>
          </a:lstStyle>
          <a:p>
            <a:pPr algn="ctr">
              <a:defRPr sz="1425" b="1">
                <a:solidFill>
                  <a:srgbClr val="6F6961"/>
                </a:solidFill>
                <a:latin typeface="Aptos"/>
                <a:ea typeface="Bitstream Charter"/>
                <a:cs typeface="Bitstream Charter"/>
              </a:defRPr>
            </a:pPr>
            <a:r>
              <a:rPr lang="en-US" sz="1425" b="1">
                <a:solidFill>
                  <a:srgbClr val="6F6961"/>
                </a:solidFill>
                <a:latin typeface="Aptos"/>
                <a:ea typeface="Bitstream Charter"/>
                <a:cs typeface="Bitstream Charter"/>
              </a:rPr>
              <a:t>Baseline</a:t>
            </a:r>
          </a:p>
        </p:txBody>
      </p:sp>
      <p:sp>
        <p:nvSpPr>
          <p:cNvPr id="7" name="Rectangle 6">
            <a:extLst>
              <a:ext uri="{FF2B5EF4-FFF2-40B4-BE49-F238E27FC236}">
                <a16:creationId xmlns:a16="http://schemas.microsoft.com/office/drawing/2014/main" id="{80F5875A-4AE1-4890-A218-32FBE5E3DA2A}"/>
              </a:ext>
            </a:extLst>
          </p:cNvPr>
          <p:cNvSpPr>
            <a:spLocks noGrp="1"/>
          </p:cNvSpPr>
          <p:nvPr/>
        </p:nvSpPr>
        <p:spPr>
          <a:xfrm>
            <a:off x="781050" y="3108045"/>
            <a:ext cx="1962150" cy="383381"/>
          </a:xfrm>
          <a:prstGeom prst="rect">
            <a:avLst/>
          </a:prstGeom>
          <a:noFill/>
          <a:ln w="0">
            <a:noFill/>
          </a:ln>
        </p:spPr>
        <p:txBody>
          <a:bodyPr wrap="square" anchor="ctr">
            <a:normAutofit/>
          </a:bodyPr>
          <a:lstStyle>
            <a:defPPr algn="ctr">
              <a:defRPr sz="1875" b="1">
                <a:solidFill>
                  <a:srgbClr val="24211E"/>
                </a:solidFill>
                <a:latin typeface="Aptos"/>
                <a:ea typeface="Bitstream Charter"/>
                <a:cs typeface="Bitstream Charter"/>
              </a:defRPr>
            </a:defPPr>
          </a:lstStyle>
          <a:p>
            <a:pPr algn="ctr">
              <a:defRPr sz="1875" b="1">
                <a:solidFill>
                  <a:srgbClr val="24211E"/>
                </a:solidFill>
                <a:latin typeface="Aptos"/>
                <a:ea typeface="Bitstream Charter"/>
                <a:cs typeface="Bitstream Charter"/>
              </a:defRPr>
            </a:pPr>
            <a:r>
              <a:rPr lang="en-US" sz="1875" b="1">
                <a:solidFill>
                  <a:srgbClr val="24211E"/>
                </a:solidFill>
                <a:latin typeface="Aptos"/>
                <a:ea typeface="Bitstream Charter"/>
                <a:cs typeface="Bitstream Charter"/>
              </a:rPr>
              <a:t>Majority class</a:t>
            </a:r>
          </a:p>
        </p:txBody>
      </p:sp>
      <p:sp>
        <p:nvSpPr>
          <p:cNvPr id="8" name="Rectangle 7">
            <a:extLst>
              <a:ext uri="{FF2B5EF4-FFF2-40B4-BE49-F238E27FC236}">
                <a16:creationId xmlns:a16="http://schemas.microsoft.com/office/drawing/2014/main" id="{BE4768BC-C39F-4C8E-ADAA-649AEA9DE6A4}"/>
              </a:ext>
            </a:extLst>
          </p:cNvPr>
          <p:cNvSpPr>
            <a:spLocks noGrp="1"/>
          </p:cNvSpPr>
          <p:nvPr/>
        </p:nvSpPr>
        <p:spPr>
          <a:xfrm>
            <a:off x="838200" y="3641445"/>
            <a:ext cx="1847850" cy="783431"/>
          </a:xfrm>
          <a:prstGeom prst="rect">
            <a:avLst/>
          </a:prstGeom>
          <a:noFill/>
          <a:ln w="0">
            <a:noFill/>
          </a:ln>
        </p:spPr>
        <p:txBody>
          <a:bodyPr wrap="square" anchor="ctr">
            <a:normAutofit/>
          </a:bodyPr>
          <a:lstStyle>
            <a:defPPr algn="ctr">
              <a:defRPr sz="1350" b="0">
                <a:solidFill>
                  <a:srgbClr val="24211E"/>
                </a:solidFill>
                <a:latin typeface="Aptos"/>
                <a:ea typeface="Bitstream Charter"/>
                <a:cs typeface="Bitstream Charter"/>
              </a:defRPr>
            </a:defPPr>
          </a:lstStyle>
          <a:p>
            <a:pPr algn="ctr">
              <a:defRPr sz="1350" b="0">
                <a:solidFill>
                  <a:srgbClr val="24211E"/>
                </a:solidFill>
                <a:latin typeface="Aptos"/>
                <a:ea typeface="Bitstream Charter"/>
                <a:cs typeface="Bitstream Charter"/>
              </a:defRPr>
            </a:pPr>
            <a:r>
              <a:rPr lang="en-US" sz="1350" b="0">
                <a:solidFill>
                  <a:srgbClr val="24211E"/>
                </a:solidFill>
                <a:latin typeface="Aptos"/>
                <a:ea typeface="Bitstream Charter"/>
                <a:cs typeface="Bitstream Charter"/>
              </a:rPr>
              <a:t>Predicts &lt;=$50K for every test record</a:t>
            </a:r>
          </a:p>
        </p:txBody>
      </p:sp>
      <p:sp>
        <p:nvSpPr>
          <p:cNvPr id="9" name="Rounded Rectangle 8">
            <a:extLst>
              <a:ext uri="{FF2B5EF4-FFF2-40B4-BE49-F238E27FC236}">
                <a16:creationId xmlns:a16="http://schemas.microsoft.com/office/drawing/2014/main" id="{C4D9DA99-6A6F-407E-AA1B-8E3AFDE7A8A0}"/>
              </a:ext>
            </a:extLst>
          </p:cNvPr>
          <p:cNvSpPr>
            <a:spLocks noGrp="1"/>
          </p:cNvSpPr>
          <p:nvPr/>
        </p:nvSpPr>
        <p:spPr>
          <a:xfrm>
            <a:off x="3314700" y="1991238"/>
            <a:ext cx="2343150" cy="2800350"/>
          </a:xfrm>
          <a:prstGeom prst="roundRect">
            <a:avLst>
              <a:gd name="adj" fmla="val 3252"/>
            </a:avLst>
          </a:prstGeom>
          <a:solidFill>
            <a:srgbClr val="EBE3D8"/>
          </a:solidFill>
          <a:ln w="0">
            <a:noFill/>
          </a:ln>
        </p:spPr>
        <p:txBody>
          <a:bodyPr wrap="square"/>
          <a:lstStyle/>
          <a:p>
            <a:endParaRPr lang="en-US"/>
          </a:p>
        </p:txBody>
      </p:sp>
      <p:sp>
        <p:nvSpPr>
          <p:cNvPr id="10" name="Rectangle 9">
            <a:extLst>
              <a:ext uri="{FF2B5EF4-FFF2-40B4-BE49-F238E27FC236}">
                <a16:creationId xmlns:a16="http://schemas.microsoft.com/office/drawing/2014/main" id="{BF86BCE1-35DD-42C4-B809-82E97E0875A0}"/>
              </a:ext>
            </a:extLst>
          </p:cNvPr>
          <p:cNvSpPr>
            <a:spLocks noGrp="1"/>
          </p:cNvSpPr>
          <p:nvPr/>
        </p:nvSpPr>
        <p:spPr>
          <a:xfrm>
            <a:off x="4152900" y="2157926"/>
            <a:ext cx="666750" cy="450056"/>
          </a:xfrm>
          <a:prstGeom prst="rect">
            <a:avLst/>
          </a:prstGeom>
          <a:noFill/>
          <a:ln w="0">
            <a:noFill/>
          </a:ln>
        </p:spPr>
        <p:txBody>
          <a:bodyPr wrap="square" anchor="ctr">
            <a:normAutofit/>
          </a:bodyPr>
          <a:lstStyle>
            <a:defPPr algn="ctr">
              <a:defRPr sz="2250" b="1">
                <a:solidFill>
                  <a:srgbClr val="24211E"/>
                </a:solidFill>
                <a:latin typeface="Aptos"/>
                <a:ea typeface="Bitstream Charter"/>
                <a:cs typeface="Bitstream Charter"/>
              </a:defRPr>
            </a:defPPr>
          </a:lstStyle>
          <a:p>
            <a:pPr algn="ctr">
              <a:defRPr sz="2250" b="1">
                <a:solidFill>
                  <a:srgbClr val="24211E"/>
                </a:solidFill>
                <a:latin typeface="Aptos"/>
                <a:ea typeface="Bitstream Charter"/>
                <a:cs typeface="Bitstream Charter"/>
              </a:defRPr>
            </a:pPr>
            <a:r>
              <a:rPr lang="en-US" sz="2250" b="1">
                <a:solidFill>
                  <a:srgbClr val="24211E"/>
                </a:solidFill>
                <a:latin typeface="Aptos"/>
                <a:ea typeface="Bitstream Charter"/>
                <a:cs typeface="Bitstream Charter"/>
              </a:rPr>
              <a:t>2</a:t>
            </a:r>
          </a:p>
        </p:txBody>
      </p:sp>
      <p:sp>
        <p:nvSpPr>
          <p:cNvPr id="11" name="Rectangle 10">
            <a:extLst>
              <a:ext uri="{FF2B5EF4-FFF2-40B4-BE49-F238E27FC236}">
                <a16:creationId xmlns:a16="http://schemas.microsoft.com/office/drawing/2014/main" id="{7B602972-1B84-4984-ABC9-0D0422F53E4E}"/>
              </a:ext>
            </a:extLst>
          </p:cNvPr>
          <p:cNvSpPr>
            <a:spLocks noGrp="1"/>
          </p:cNvSpPr>
          <p:nvPr/>
        </p:nvSpPr>
        <p:spPr>
          <a:xfrm>
            <a:off x="3505200" y="2741332"/>
            <a:ext cx="1962150" cy="283368"/>
          </a:xfrm>
          <a:prstGeom prst="rect">
            <a:avLst/>
          </a:prstGeom>
          <a:noFill/>
          <a:ln w="0">
            <a:noFill/>
          </a:ln>
        </p:spPr>
        <p:txBody>
          <a:bodyPr wrap="square" anchor="ctr">
            <a:normAutofit fontScale="92500" lnSpcReduction="10000"/>
          </a:bodyPr>
          <a:lstStyle>
            <a:defPPr algn="ctr">
              <a:defRPr sz="1425" b="1">
                <a:solidFill>
                  <a:srgbClr val="6F6961"/>
                </a:solidFill>
                <a:latin typeface="Aptos"/>
                <a:ea typeface="Bitstream Charter"/>
                <a:cs typeface="Bitstream Charter"/>
              </a:defRPr>
            </a:defPPr>
          </a:lstStyle>
          <a:p>
            <a:pPr algn="ctr">
              <a:defRPr sz="1425" b="1">
                <a:solidFill>
                  <a:srgbClr val="6F6961"/>
                </a:solidFill>
                <a:latin typeface="Aptos"/>
                <a:ea typeface="Bitstream Charter"/>
                <a:cs typeface="Bitstream Charter"/>
              </a:defRPr>
            </a:pPr>
            <a:r>
              <a:rPr lang="en-US" sz="1425" b="1">
                <a:solidFill>
                  <a:srgbClr val="6F6961"/>
                </a:solidFill>
                <a:latin typeface="Aptos"/>
                <a:ea typeface="Bitstream Charter"/>
                <a:cs typeface="Bitstream Charter"/>
              </a:rPr>
              <a:t>Linear benchmark</a:t>
            </a:r>
          </a:p>
        </p:txBody>
      </p:sp>
      <p:sp>
        <p:nvSpPr>
          <p:cNvPr id="12" name="Rectangle 11">
            <a:extLst>
              <a:ext uri="{FF2B5EF4-FFF2-40B4-BE49-F238E27FC236}">
                <a16:creationId xmlns:a16="http://schemas.microsoft.com/office/drawing/2014/main" id="{062181CF-BC27-487E-8745-DBF80B7F4065}"/>
              </a:ext>
            </a:extLst>
          </p:cNvPr>
          <p:cNvSpPr>
            <a:spLocks noGrp="1"/>
          </p:cNvSpPr>
          <p:nvPr/>
        </p:nvSpPr>
        <p:spPr>
          <a:xfrm>
            <a:off x="3505200" y="3108045"/>
            <a:ext cx="1962150" cy="383381"/>
          </a:xfrm>
          <a:prstGeom prst="rect">
            <a:avLst/>
          </a:prstGeom>
          <a:noFill/>
          <a:ln w="0">
            <a:noFill/>
          </a:ln>
        </p:spPr>
        <p:txBody>
          <a:bodyPr wrap="square" anchor="ctr">
            <a:normAutofit fontScale="86126"/>
          </a:bodyPr>
          <a:lstStyle>
            <a:defPPr algn="ctr">
              <a:defRPr sz="1875" b="1">
                <a:solidFill>
                  <a:srgbClr val="24211E"/>
                </a:solidFill>
                <a:latin typeface="Aptos"/>
                <a:ea typeface="Bitstream Charter"/>
                <a:cs typeface="Bitstream Charter"/>
              </a:defRPr>
            </a:defPPr>
          </a:lstStyle>
          <a:p>
            <a:pPr algn="ctr">
              <a:defRPr sz="1875" b="1">
                <a:solidFill>
                  <a:srgbClr val="24211E"/>
                </a:solidFill>
                <a:latin typeface="Aptos"/>
                <a:ea typeface="Bitstream Charter"/>
                <a:cs typeface="Bitstream Charter"/>
              </a:defRPr>
            </a:pPr>
            <a:r>
              <a:rPr lang="en-US" sz="1875" b="1">
                <a:solidFill>
                  <a:srgbClr val="24211E"/>
                </a:solidFill>
                <a:latin typeface="Aptos"/>
                <a:ea typeface="Bitstream Charter"/>
                <a:cs typeface="Bitstream Charter"/>
              </a:rPr>
              <a:t>Logistic regression</a:t>
            </a:r>
          </a:p>
        </p:txBody>
      </p:sp>
      <p:sp>
        <p:nvSpPr>
          <p:cNvPr id="13" name="Rectangle 12">
            <a:extLst>
              <a:ext uri="{FF2B5EF4-FFF2-40B4-BE49-F238E27FC236}">
                <a16:creationId xmlns:a16="http://schemas.microsoft.com/office/drawing/2014/main" id="{A1418683-9B30-41C1-92C6-7ED4B7753F62}"/>
              </a:ext>
            </a:extLst>
          </p:cNvPr>
          <p:cNvSpPr>
            <a:spLocks noGrp="1"/>
          </p:cNvSpPr>
          <p:nvPr/>
        </p:nvSpPr>
        <p:spPr>
          <a:xfrm>
            <a:off x="3562350" y="3641445"/>
            <a:ext cx="1847850" cy="783431"/>
          </a:xfrm>
          <a:prstGeom prst="rect">
            <a:avLst/>
          </a:prstGeom>
          <a:noFill/>
          <a:ln w="0">
            <a:noFill/>
          </a:ln>
        </p:spPr>
        <p:txBody>
          <a:bodyPr wrap="square" anchor="ctr">
            <a:normAutofit/>
          </a:bodyPr>
          <a:lstStyle>
            <a:defPPr algn="ctr">
              <a:defRPr sz="1350" b="0">
                <a:solidFill>
                  <a:srgbClr val="24211E"/>
                </a:solidFill>
                <a:latin typeface="Aptos"/>
                <a:ea typeface="Bitstream Charter"/>
                <a:cs typeface="Bitstream Charter"/>
              </a:defRPr>
            </a:defPPr>
          </a:lstStyle>
          <a:p>
            <a:pPr algn="ctr">
              <a:defRPr sz="1350" b="0">
                <a:solidFill>
                  <a:srgbClr val="24211E"/>
                </a:solidFill>
                <a:latin typeface="Aptos"/>
                <a:ea typeface="Bitstream Charter"/>
                <a:cs typeface="Bitstream Charter"/>
              </a:defRPr>
            </a:pPr>
            <a:r>
              <a:rPr lang="en-US" sz="1350" b="0">
                <a:solidFill>
                  <a:srgbClr val="24211E"/>
                </a:solidFill>
                <a:latin typeface="Aptos"/>
                <a:ea typeface="Bitstream Charter"/>
                <a:cs typeface="Bitstream Charter"/>
              </a:rPr>
              <a:t>Tests an additive decision boundary</a:t>
            </a:r>
          </a:p>
        </p:txBody>
      </p:sp>
      <p:sp>
        <p:nvSpPr>
          <p:cNvPr id="14" name="Rounded Rectangle 13">
            <a:extLst>
              <a:ext uri="{FF2B5EF4-FFF2-40B4-BE49-F238E27FC236}">
                <a16:creationId xmlns:a16="http://schemas.microsoft.com/office/drawing/2014/main" id="{090B633F-C6D3-4607-90EB-BEDA6E660EFA}"/>
              </a:ext>
            </a:extLst>
          </p:cNvPr>
          <p:cNvSpPr>
            <a:spLocks noGrp="1"/>
          </p:cNvSpPr>
          <p:nvPr/>
        </p:nvSpPr>
        <p:spPr>
          <a:xfrm>
            <a:off x="6038850" y="1991238"/>
            <a:ext cx="2343150" cy="2800350"/>
          </a:xfrm>
          <a:prstGeom prst="roundRect">
            <a:avLst>
              <a:gd name="adj" fmla="val 3252"/>
            </a:avLst>
          </a:prstGeom>
          <a:solidFill>
            <a:srgbClr val="E7DFD2"/>
          </a:solidFill>
          <a:ln w="0">
            <a:noFill/>
          </a:ln>
        </p:spPr>
        <p:txBody>
          <a:bodyPr wrap="square"/>
          <a:lstStyle/>
          <a:p>
            <a:endParaRPr lang="en-US"/>
          </a:p>
        </p:txBody>
      </p:sp>
      <p:sp>
        <p:nvSpPr>
          <p:cNvPr id="15" name="Rectangle 14">
            <a:extLst>
              <a:ext uri="{FF2B5EF4-FFF2-40B4-BE49-F238E27FC236}">
                <a16:creationId xmlns:a16="http://schemas.microsoft.com/office/drawing/2014/main" id="{8C4BA191-6ADC-49E1-8D86-BAC92ED4D108}"/>
              </a:ext>
            </a:extLst>
          </p:cNvPr>
          <p:cNvSpPr>
            <a:spLocks noGrp="1"/>
          </p:cNvSpPr>
          <p:nvPr/>
        </p:nvSpPr>
        <p:spPr>
          <a:xfrm>
            <a:off x="6877050" y="2157926"/>
            <a:ext cx="666750" cy="450056"/>
          </a:xfrm>
          <a:prstGeom prst="rect">
            <a:avLst/>
          </a:prstGeom>
          <a:noFill/>
          <a:ln w="0">
            <a:noFill/>
          </a:ln>
        </p:spPr>
        <p:txBody>
          <a:bodyPr wrap="square" anchor="ctr">
            <a:normAutofit/>
          </a:bodyPr>
          <a:lstStyle>
            <a:defPPr algn="ctr">
              <a:defRPr sz="2250" b="1">
                <a:solidFill>
                  <a:srgbClr val="A6462E"/>
                </a:solidFill>
                <a:latin typeface="Aptos"/>
                <a:ea typeface="Bitstream Charter"/>
                <a:cs typeface="Bitstream Charter"/>
              </a:defRPr>
            </a:defPPr>
          </a:lstStyle>
          <a:p>
            <a:pPr algn="ctr">
              <a:defRPr sz="2250" b="1">
                <a:solidFill>
                  <a:srgbClr val="A6462E"/>
                </a:solidFill>
                <a:latin typeface="Aptos"/>
                <a:ea typeface="Bitstream Charter"/>
                <a:cs typeface="Bitstream Charter"/>
              </a:defRPr>
            </a:pPr>
            <a:r>
              <a:rPr lang="en-US" sz="2250" b="1">
                <a:solidFill>
                  <a:srgbClr val="A6462E"/>
                </a:solidFill>
                <a:latin typeface="Aptos"/>
                <a:ea typeface="Bitstream Charter"/>
                <a:cs typeface="Bitstream Charter"/>
              </a:rPr>
              <a:t>3</a:t>
            </a:r>
          </a:p>
        </p:txBody>
      </p:sp>
      <p:sp>
        <p:nvSpPr>
          <p:cNvPr id="16" name="Rectangle 15">
            <a:extLst>
              <a:ext uri="{FF2B5EF4-FFF2-40B4-BE49-F238E27FC236}">
                <a16:creationId xmlns:a16="http://schemas.microsoft.com/office/drawing/2014/main" id="{85DA605A-A008-41A8-985E-151E43E2131D}"/>
              </a:ext>
            </a:extLst>
          </p:cNvPr>
          <p:cNvSpPr>
            <a:spLocks noGrp="1"/>
          </p:cNvSpPr>
          <p:nvPr/>
        </p:nvSpPr>
        <p:spPr>
          <a:xfrm>
            <a:off x="6229350" y="2741332"/>
            <a:ext cx="1962150" cy="283368"/>
          </a:xfrm>
          <a:prstGeom prst="rect">
            <a:avLst/>
          </a:prstGeom>
          <a:noFill/>
          <a:ln w="0">
            <a:noFill/>
          </a:ln>
        </p:spPr>
        <p:txBody>
          <a:bodyPr wrap="square" anchor="ctr">
            <a:normAutofit fontScale="92500" lnSpcReduction="10000"/>
          </a:bodyPr>
          <a:lstStyle>
            <a:defPPr algn="ctr">
              <a:defRPr sz="1425" b="1">
                <a:solidFill>
                  <a:srgbClr val="6F6961"/>
                </a:solidFill>
                <a:latin typeface="Aptos"/>
                <a:ea typeface="Bitstream Charter"/>
                <a:cs typeface="Bitstream Charter"/>
              </a:defRPr>
            </a:defPPr>
          </a:lstStyle>
          <a:p>
            <a:pPr algn="ctr">
              <a:defRPr sz="1425" b="1">
                <a:solidFill>
                  <a:srgbClr val="6F6961"/>
                </a:solidFill>
                <a:latin typeface="Aptos"/>
                <a:ea typeface="Bitstream Charter"/>
                <a:cs typeface="Bitstream Charter"/>
              </a:defRPr>
            </a:pPr>
            <a:r>
              <a:rPr lang="en-US" sz="1425" b="1">
                <a:solidFill>
                  <a:srgbClr val="6F6961"/>
                </a:solidFill>
                <a:latin typeface="Aptos"/>
                <a:ea typeface="Bitstream Charter"/>
                <a:cs typeface="Bitstream Charter"/>
              </a:rPr>
              <a:t>Dense network</a:t>
            </a:r>
          </a:p>
        </p:txBody>
      </p:sp>
      <p:sp>
        <p:nvSpPr>
          <p:cNvPr id="17" name="Rectangle 16">
            <a:extLst>
              <a:ext uri="{FF2B5EF4-FFF2-40B4-BE49-F238E27FC236}">
                <a16:creationId xmlns:a16="http://schemas.microsoft.com/office/drawing/2014/main" id="{8D3D1438-C90E-4996-9D58-61288BBFC425}"/>
              </a:ext>
            </a:extLst>
          </p:cNvPr>
          <p:cNvSpPr>
            <a:spLocks noGrp="1"/>
          </p:cNvSpPr>
          <p:nvPr/>
        </p:nvSpPr>
        <p:spPr>
          <a:xfrm>
            <a:off x="6229350" y="3108045"/>
            <a:ext cx="1962150" cy="383381"/>
          </a:xfrm>
          <a:prstGeom prst="rect">
            <a:avLst/>
          </a:prstGeom>
          <a:noFill/>
          <a:ln w="0">
            <a:noFill/>
          </a:ln>
        </p:spPr>
        <p:txBody>
          <a:bodyPr wrap="square" anchor="ctr">
            <a:normAutofit/>
          </a:bodyPr>
          <a:lstStyle>
            <a:defPPr algn="ctr">
              <a:defRPr sz="1875" b="1">
                <a:solidFill>
                  <a:srgbClr val="24211E"/>
                </a:solidFill>
                <a:latin typeface="Aptos"/>
                <a:ea typeface="Bitstream Charter"/>
                <a:cs typeface="Bitstream Charter"/>
              </a:defRPr>
            </a:defPPr>
          </a:lstStyle>
          <a:p>
            <a:pPr algn="ctr">
              <a:defRPr sz="1875" b="1">
                <a:solidFill>
                  <a:srgbClr val="24211E"/>
                </a:solidFill>
                <a:latin typeface="Aptos"/>
                <a:ea typeface="Bitstream Charter"/>
                <a:cs typeface="Bitstream Charter"/>
              </a:defRPr>
            </a:pPr>
            <a:r>
              <a:rPr lang="en-US" sz="1875" b="1">
                <a:solidFill>
                  <a:srgbClr val="24211E"/>
                </a:solidFill>
                <a:latin typeface="Aptos"/>
                <a:ea typeface="Bitstream Charter"/>
                <a:cs typeface="Bitstream Charter"/>
              </a:rPr>
              <a:t>MLP</a:t>
            </a:r>
          </a:p>
        </p:txBody>
      </p:sp>
      <p:sp>
        <p:nvSpPr>
          <p:cNvPr id="18" name="Rectangle 17">
            <a:extLst>
              <a:ext uri="{FF2B5EF4-FFF2-40B4-BE49-F238E27FC236}">
                <a16:creationId xmlns:a16="http://schemas.microsoft.com/office/drawing/2014/main" id="{99C0930B-E284-44F8-9F04-78B0B3BD8508}"/>
              </a:ext>
            </a:extLst>
          </p:cNvPr>
          <p:cNvSpPr>
            <a:spLocks noGrp="1"/>
          </p:cNvSpPr>
          <p:nvPr/>
        </p:nvSpPr>
        <p:spPr>
          <a:xfrm>
            <a:off x="6286500" y="3641445"/>
            <a:ext cx="1847850" cy="783431"/>
          </a:xfrm>
          <a:prstGeom prst="rect">
            <a:avLst/>
          </a:prstGeom>
          <a:noFill/>
          <a:ln w="0">
            <a:noFill/>
          </a:ln>
        </p:spPr>
        <p:txBody>
          <a:bodyPr wrap="square" anchor="ctr">
            <a:normAutofit/>
          </a:bodyPr>
          <a:lstStyle>
            <a:defPPr algn="ctr">
              <a:defRPr sz="1350" b="0">
                <a:solidFill>
                  <a:srgbClr val="24211E"/>
                </a:solidFill>
                <a:latin typeface="Aptos"/>
                <a:ea typeface="Bitstream Charter"/>
                <a:cs typeface="Bitstream Charter"/>
              </a:defRPr>
            </a:defPPr>
          </a:lstStyle>
          <a:p>
            <a:pPr algn="ctr">
              <a:defRPr sz="1350" b="0">
                <a:solidFill>
                  <a:srgbClr val="24211E"/>
                </a:solidFill>
                <a:latin typeface="Aptos"/>
                <a:ea typeface="Bitstream Charter"/>
                <a:cs typeface="Bitstream Charter"/>
              </a:defRPr>
            </a:pPr>
            <a:r>
              <a:rPr lang="en-US" sz="1350" b="0">
                <a:solidFill>
                  <a:srgbClr val="24211E"/>
                </a:solidFill>
                <a:latin typeface="Aptos"/>
                <a:ea typeface="Bitstream Charter"/>
                <a:cs typeface="Bitstream Charter"/>
              </a:rPr>
              <a:t>Uses two nonlinear hidden layers</a:t>
            </a:r>
          </a:p>
        </p:txBody>
      </p:sp>
      <p:sp>
        <p:nvSpPr>
          <p:cNvPr id="19" name="Rounded Rectangle 18">
            <a:extLst>
              <a:ext uri="{FF2B5EF4-FFF2-40B4-BE49-F238E27FC236}">
                <a16:creationId xmlns:a16="http://schemas.microsoft.com/office/drawing/2014/main" id="{94FDC38A-1B21-4D79-9E5B-1C340043CF26}"/>
              </a:ext>
            </a:extLst>
          </p:cNvPr>
          <p:cNvSpPr>
            <a:spLocks noGrp="1"/>
          </p:cNvSpPr>
          <p:nvPr/>
        </p:nvSpPr>
        <p:spPr>
          <a:xfrm>
            <a:off x="8763000" y="1991238"/>
            <a:ext cx="2343150" cy="2800350"/>
          </a:xfrm>
          <a:prstGeom prst="roundRect">
            <a:avLst>
              <a:gd name="adj" fmla="val 3252"/>
            </a:avLst>
          </a:prstGeom>
          <a:solidFill>
            <a:srgbClr val="F1E2D7"/>
          </a:solidFill>
          <a:ln w="0">
            <a:noFill/>
          </a:ln>
        </p:spPr>
        <p:txBody>
          <a:bodyPr wrap="square"/>
          <a:lstStyle/>
          <a:p>
            <a:endParaRPr lang="en-US"/>
          </a:p>
        </p:txBody>
      </p:sp>
      <p:sp>
        <p:nvSpPr>
          <p:cNvPr id="20" name="Rectangle 19">
            <a:extLst>
              <a:ext uri="{FF2B5EF4-FFF2-40B4-BE49-F238E27FC236}">
                <a16:creationId xmlns:a16="http://schemas.microsoft.com/office/drawing/2014/main" id="{45D34DF5-BD6E-40C6-B438-74BAFD9BBE23}"/>
              </a:ext>
            </a:extLst>
          </p:cNvPr>
          <p:cNvSpPr>
            <a:spLocks noGrp="1"/>
          </p:cNvSpPr>
          <p:nvPr/>
        </p:nvSpPr>
        <p:spPr>
          <a:xfrm>
            <a:off x="9601200" y="2157926"/>
            <a:ext cx="666750" cy="450056"/>
          </a:xfrm>
          <a:prstGeom prst="rect">
            <a:avLst/>
          </a:prstGeom>
          <a:noFill/>
          <a:ln w="0">
            <a:noFill/>
          </a:ln>
        </p:spPr>
        <p:txBody>
          <a:bodyPr wrap="square" anchor="ctr">
            <a:normAutofit/>
          </a:bodyPr>
          <a:lstStyle>
            <a:defPPr algn="ctr">
              <a:defRPr sz="2250" b="1">
                <a:solidFill>
                  <a:srgbClr val="24211E"/>
                </a:solidFill>
                <a:latin typeface="Aptos"/>
                <a:ea typeface="Bitstream Charter"/>
                <a:cs typeface="Bitstream Charter"/>
              </a:defRPr>
            </a:defPPr>
          </a:lstStyle>
          <a:p>
            <a:pPr algn="ctr">
              <a:defRPr sz="2250" b="1">
                <a:solidFill>
                  <a:srgbClr val="24211E"/>
                </a:solidFill>
                <a:latin typeface="Aptos"/>
                <a:ea typeface="Bitstream Charter"/>
                <a:cs typeface="Bitstream Charter"/>
              </a:defRPr>
            </a:pPr>
            <a:r>
              <a:rPr lang="en-US" sz="2250" b="1">
                <a:solidFill>
                  <a:srgbClr val="24211E"/>
                </a:solidFill>
                <a:latin typeface="Aptos"/>
                <a:ea typeface="Bitstream Charter"/>
                <a:cs typeface="Bitstream Charter"/>
              </a:rPr>
              <a:t>4</a:t>
            </a:r>
          </a:p>
        </p:txBody>
      </p:sp>
      <p:sp>
        <p:nvSpPr>
          <p:cNvPr id="21" name="Rectangle 20">
            <a:extLst>
              <a:ext uri="{FF2B5EF4-FFF2-40B4-BE49-F238E27FC236}">
                <a16:creationId xmlns:a16="http://schemas.microsoft.com/office/drawing/2014/main" id="{A49304B2-C1F9-4714-9B7D-BFF7583E8910}"/>
              </a:ext>
            </a:extLst>
          </p:cNvPr>
          <p:cNvSpPr>
            <a:spLocks noGrp="1"/>
          </p:cNvSpPr>
          <p:nvPr/>
        </p:nvSpPr>
        <p:spPr>
          <a:xfrm>
            <a:off x="8953500" y="2741332"/>
            <a:ext cx="1962150" cy="283368"/>
          </a:xfrm>
          <a:prstGeom prst="rect">
            <a:avLst/>
          </a:prstGeom>
          <a:noFill/>
          <a:ln w="0">
            <a:noFill/>
          </a:ln>
        </p:spPr>
        <p:txBody>
          <a:bodyPr wrap="square" anchor="ctr">
            <a:normAutofit fontScale="92500" lnSpcReduction="10000"/>
          </a:bodyPr>
          <a:lstStyle>
            <a:defPPr algn="ctr">
              <a:defRPr sz="1425" b="1">
                <a:solidFill>
                  <a:srgbClr val="6F6961"/>
                </a:solidFill>
                <a:latin typeface="Aptos"/>
                <a:ea typeface="Bitstream Charter"/>
                <a:cs typeface="Bitstream Charter"/>
              </a:defRPr>
            </a:defPPr>
          </a:lstStyle>
          <a:p>
            <a:pPr algn="ctr">
              <a:defRPr sz="1425" b="1">
                <a:solidFill>
                  <a:srgbClr val="6F6961"/>
                </a:solidFill>
                <a:latin typeface="Aptos"/>
                <a:ea typeface="Bitstream Charter"/>
                <a:cs typeface="Bitstream Charter"/>
              </a:defRPr>
            </a:pPr>
            <a:r>
              <a:rPr lang="en-US" sz="1425" b="1">
                <a:solidFill>
                  <a:srgbClr val="6F6961"/>
                </a:solidFill>
                <a:latin typeface="Aptos"/>
                <a:ea typeface="Bitstream Charter"/>
                <a:cs typeface="Bitstream Charter"/>
              </a:rPr>
              <a:t>Recurrent network</a:t>
            </a:r>
          </a:p>
        </p:txBody>
      </p:sp>
      <p:sp>
        <p:nvSpPr>
          <p:cNvPr id="22" name="Rectangle 21">
            <a:extLst>
              <a:ext uri="{FF2B5EF4-FFF2-40B4-BE49-F238E27FC236}">
                <a16:creationId xmlns:a16="http://schemas.microsoft.com/office/drawing/2014/main" id="{F1405A7F-9DE7-43A2-BC6D-7F32B575561F}"/>
              </a:ext>
            </a:extLst>
          </p:cNvPr>
          <p:cNvSpPr>
            <a:spLocks noGrp="1"/>
          </p:cNvSpPr>
          <p:nvPr/>
        </p:nvSpPr>
        <p:spPr>
          <a:xfrm>
            <a:off x="8953500" y="3108045"/>
            <a:ext cx="1962150" cy="383381"/>
          </a:xfrm>
          <a:prstGeom prst="rect">
            <a:avLst/>
          </a:prstGeom>
          <a:noFill/>
          <a:ln w="0">
            <a:noFill/>
          </a:ln>
        </p:spPr>
        <p:txBody>
          <a:bodyPr wrap="square" anchor="ctr">
            <a:normAutofit/>
          </a:bodyPr>
          <a:lstStyle>
            <a:defPPr algn="ctr">
              <a:defRPr sz="1875" b="1">
                <a:solidFill>
                  <a:srgbClr val="24211E"/>
                </a:solidFill>
                <a:latin typeface="Aptos"/>
                <a:ea typeface="Bitstream Charter"/>
                <a:cs typeface="Bitstream Charter"/>
              </a:defRPr>
            </a:defPPr>
          </a:lstStyle>
          <a:p>
            <a:pPr algn="ctr">
              <a:defRPr sz="1875" b="1">
                <a:solidFill>
                  <a:srgbClr val="24211E"/>
                </a:solidFill>
                <a:latin typeface="Aptos"/>
                <a:ea typeface="Bitstream Charter"/>
                <a:cs typeface="Bitstream Charter"/>
              </a:defRPr>
            </a:pPr>
            <a:r>
              <a:rPr lang="en-US" sz="1875" b="1">
                <a:solidFill>
                  <a:srgbClr val="24211E"/>
                </a:solidFill>
                <a:latin typeface="Aptos"/>
                <a:ea typeface="Bitstream Charter"/>
                <a:cs typeface="Bitstream Charter"/>
              </a:rPr>
              <a:t>LSTM</a:t>
            </a:r>
          </a:p>
        </p:txBody>
      </p:sp>
      <p:sp>
        <p:nvSpPr>
          <p:cNvPr id="23" name="Rectangle 22">
            <a:extLst>
              <a:ext uri="{FF2B5EF4-FFF2-40B4-BE49-F238E27FC236}">
                <a16:creationId xmlns:a16="http://schemas.microsoft.com/office/drawing/2014/main" id="{24C924ED-B127-489E-AA26-69268B51B6DE}"/>
              </a:ext>
            </a:extLst>
          </p:cNvPr>
          <p:cNvSpPr>
            <a:spLocks noGrp="1"/>
          </p:cNvSpPr>
          <p:nvPr/>
        </p:nvSpPr>
        <p:spPr>
          <a:xfrm>
            <a:off x="9010650" y="3641445"/>
            <a:ext cx="1847850" cy="783431"/>
          </a:xfrm>
          <a:prstGeom prst="rect">
            <a:avLst/>
          </a:prstGeom>
          <a:noFill/>
          <a:ln w="0">
            <a:noFill/>
          </a:ln>
        </p:spPr>
        <p:txBody>
          <a:bodyPr wrap="square" anchor="ctr">
            <a:normAutofit/>
          </a:bodyPr>
          <a:lstStyle>
            <a:defPPr algn="ctr">
              <a:defRPr sz="1350" b="0">
                <a:solidFill>
                  <a:srgbClr val="24211E"/>
                </a:solidFill>
                <a:latin typeface="Aptos"/>
                <a:ea typeface="Bitstream Charter"/>
                <a:cs typeface="Bitstream Charter"/>
              </a:defRPr>
            </a:defPPr>
          </a:lstStyle>
          <a:p>
            <a:pPr algn="ctr">
              <a:defRPr sz="1350" b="0">
                <a:solidFill>
                  <a:srgbClr val="24211E"/>
                </a:solidFill>
                <a:latin typeface="Aptos"/>
                <a:ea typeface="Bitstream Charter"/>
                <a:cs typeface="Bitstream Charter"/>
              </a:defRPr>
            </a:pPr>
            <a:r>
              <a:rPr lang="en-US" sz="1350" b="0">
                <a:solidFill>
                  <a:srgbClr val="24211E"/>
                </a:solidFill>
                <a:latin typeface="Aptos"/>
                <a:ea typeface="Bitstream Charter"/>
                <a:cs typeface="Bitstream Charter"/>
              </a:rPr>
              <a:t>Processes encoded features as an artificial sequence</a:t>
            </a:r>
          </a:p>
        </p:txBody>
      </p:sp>
      <p:sp>
        <p:nvSpPr>
          <p:cNvPr id="24" name="Rectangle 23">
            <a:extLst>
              <a:ext uri="{FF2B5EF4-FFF2-40B4-BE49-F238E27FC236}">
                <a16:creationId xmlns:a16="http://schemas.microsoft.com/office/drawing/2014/main" id="{AA65BACC-0260-4673-8434-B100938A89AA}"/>
              </a:ext>
            </a:extLst>
          </p:cNvPr>
          <p:cNvSpPr>
            <a:spLocks noGrp="1"/>
          </p:cNvSpPr>
          <p:nvPr/>
        </p:nvSpPr>
        <p:spPr>
          <a:xfrm>
            <a:off x="800100" y="5124963"/>
            <a:ext cx="10591800" cy="500062"/>
          </a:xfrm>
          <a:prstGeom prst="rect">
            <a:avLst/>
          </a:prstGeom>
          <a:noFill/>
          <a:ln w="0">
            <a:noFill/>
          </a:ln>
        </p:spPr>
        <p:txBody>
          <a:bodyPr wrap="square" anchor="ctr">
            <a:normAutofit/>
          </a:bodyPr>
          <a:lstStyle>
            <a:defPPr algn="ctr">
              <a:defRPr sz="1500" b="1">
                <a:solidFill>
                  <a:srgbClr val="24211E"/>
                </a:solidFill>
                <a:latin typeface="Aptos"/>
                <a:ea typeface="Bitstream Charter"/>
                <a:cs typeface="Bitstream Charter"/>
              </a:defRPr>
            </a:defPPr>
          </a:lstStyle>
          <a:p>
            <a:pPr algn="ctr">
              <a:defRPr sz="1500" b="1">
                <a:solidFill>
                  <a:srgbClr val="24211E"/>
                </a:solidFill>
                <a:latin typeface="Aptos"/>
                <a:ea typeface="Bitstream Charter"/>
                <a:cs typeface="Bitstream Charter"/>
              </a:defRPr>
            </a:pPr>
            <a:r>
              <a:rPr lang="en-US" sz="1500" b="1">
                <a:solidFill>
                  <a:srgbClr val="24211E"/>
                </a:solidFill>
                <a:latin typeface="Aptos"/>
                <a:ea typeface="Bitstream Charter"/>
                <a:cs typeface="Bitstream Charter"/>
              </a:rPr>
              <a:t>Neural models: class weights, Adam optimization, binary cross-entropy, dropout, L2 regularization, and early stopping</a:t>
            </a:r>
          </a:p>
        </p:txBody>
      </p:sp>
      <p:sp>
        <p:nvSpPr>
          <p:cNvPr id="25" name="Rectangle 24">
            <a:extLst>
              <a:ext uri="{FF2B5EF4-FFF2-40B4-BE49-F238E27FC236}">
                <a16:creationId xmlns:a16="http://schemas.microsoft.com/office/drawing/2014/main" id="{FE7A6B99-D004-411B-BB45-DFE764D9DE29}"/>
              </a:ext>
            </a:extLst>
          </p:cNvPr>
          <p:cNvSpPr>
            <a:spLocks noGrp="1"/>
          </p:cNvSpPr>
          <p:nvPr/>
        </p:nvSpPr>
        <p:spPr>
          <a:xfrm>
            <a:off x="800100" y="5708370"/>
            <a:ext cx="10591800" cy="250031"/>
          </a:xfrm>
          <a:prstGeom prst="rect">
            <a:avLst/>
          </a:prstGeom>
          <a:noFill/>
          <a:ln w="0">
            <a:noFill/>
          </a:ln>
        </p:spPr>
        <p:txBody>
          <a:bodyPr wrap="square" anchor="ctr">
            <a:normAutofit fontScale="86944" lnSpcReduction="20000"/>
          </a:bodyPr>
          <a:lstStyle>
            <a:defPPr algn="ctr">
              <a:defRPr sz="1350" b="1">
                <a:solidFill>
                  <a:srgbClr val="A6462E"/>
                </a:solidFill>
                <a:latin typeface="Aptos"/>
                <a:ea typeface="Bitstream Charter"/>
                <a:cs typeface="Bitstream Charter"/>
              </a:defRPr>
            </a:defPPr>
          </a:lstStyle>
          <a:p>
            <a:pPr algn="ctr">
              <a:defRPr sz="1350" b="1">
                <a:solidFill>
                  <a:srgbClr val="A6462E"/>
                </a:solidFill>
                <a:latin typeface="Aptos"/>
                <a:ea typeface="Bitstream Charter"/>
                <a:cs typeface="Bitstream Charter"/>
              </a:defRPr>
            </a:pPr>
            <a:r>
              <a:rPr lang="en-US" sz="1350" b="1">
                <a:solidFill>
                  <a:srgbClr val="24211E"/>
                </a:solidFill>
                <a:latin typeface="Aptos"/>
                <a:ea typeface="Bitstream Charter"/>
                <a:cs typeface="Bitstream Charter"/>
              </a:rPr>
              <a:t>LSTM feature order is non-temporal and analyst-defined.</a:t>
            </a:r>
          </a:p>
        </p:txBody>
      </p:sp>
      <p:sp>
        <p:nvSpPr>
          <p:cNvPr id="26" name="Rectangle 25">
            <a:extLst>
              <a:ext uri="{FF2B5EF4-FFF2-40B4-BE49-F238E27FC236}">
                <a16:creationId xmlns:a16="http://schemas.microsoft.com/office/drawing/2014/main" id="{4FE81F37-CE41-4170-9D91-D986A200DA44}"/>
              </a:ext>
            </a:extLst>
          </p:cNvPr>
          <p:cNvSpPr>
            <a:spLocks noGrp="1"/>
          </p:cNvSpPr>
          <p:nvPr/>
        </p:nvSpPr>
        <p:spPr>
          <a:xfrm>
            <a:off x="685800" y="6510528"/>
            <a:ext cx="6400800" cy="164592"/>
          </a:xfrm>
          <a:prstGeom prst="rect">
            <a:avLst/>
          </a:prstGeom>
          <a:noFill/>
          <a:ln w="0">
            <a:noFill/>
          </a:ln>
        </p:spPr>
        <p:txBody>
          <a:bodyPr wrap="square" anchor="ctr">
            <a:normAutofit fontScale="55000" lnSpcReduction="20000"/>
          </a:bodyPr>
          <a:lstStyle/>
          <a:p>
            <a:r>
              <a:rPr lang="en-US" sz="900">
                <a:solidFill>
                  <a:srgbClr val="6F6961"/>
                </a:solidFill>
                <a:latin typeface="Aptos"/>
              </a:rPr>
              <a:t>ANA500   Micro-Project 4   Valentin Diaconu</a:t>
            </a:r>
          </a:p>
        </p:txBody>
      </p:sp>
      <p:sp>
        <p:nvSpPr>
          <p:cNvPr id="27" name="Rectangle 26">
            <a:extLst>
              <a:ext uri="{FF2B5EF4-FFF2-40B4-BE49-F238E27FC236}">
                <a16:creationId xmlns:a16="http://schemas.microsoft.com/office/drawing/2014/main" id="{27F10DDD-F7BB-4E8D-9225-B3DE6B292517}"/>
              </a:ext>
            </a:extLst>
          </p:cNvPr>
          <p:cNvSpPr>
            <a:spLocks noGrp="1"/>
          </p:cNvSpPr>
          <p:nvPr/>
        </p:nvSpPr>
        <p:spPr>
          <a:xfrm>
            <a:off x="11018520" y="6492240"/>
            <a:ext cx="484632" cy="182880"/>
          </a:xfrm>
          <a:prstGeom prst="rect">
            <a:avLst/>
          </a:prstGeom>
          <a:noFill/>
          <a:ln w="0">
            <a:noFill/>
          </a:ln>
        </p:spPr>
        <p:txBody>
          <a:bodyPr wrap="square" anchor="ctr">
            <a:normAutofit fontScale="70000" lnSpcReduction="20000"/>
          </a:bodyPr>
          <a:lstStyle/>
          <a:p>
            <a:pPr algn="r"/>
            <a:r>
              <a:rPr lang="en-US" sz="980">
                <a:solidFill>
                  <a:srgbClr val="A6462E"/>
                </a:solidFill>
                <a:latin typeface="Aptos"/>
              </a:rPr>
              <a:t>6</a:t>
            </a:r>
          </a:p>
        </p:txBody>
      </p:sp>
      <p:sp>
        <p:nvSpPr>
          <p:cNvPr id="29" name="TextBox 13"/>
          <p:cNvSpPr txBox="1"/>
          <p:nvPr/>
        </p:nvSpPr>
        <p:spPr>
          <a:xfrm>
            <a:off x="11082528" y="429768"/>
            <a:ext cx="411480" cy="201168"/>
          </a:xfrm>
          <a:prstGeom prst="rect">
            <a:avLst/>
          </a:prstGeom>
          <a:noFill/>
        </p:spPr>
        <p:txBody>
          <a:bodyPr wrap="square" lIns="0" tIns="0" rIns="0" bIns="0" anchor="ctr">
            <a:spAutoFit/>
          </a:bodyPr>
          <a:lstStyle/>
          <a:p>
            <a:pPr algn="r"/>
            <a:r>
              <a:rPr sz="1050" b="0">
                <a:solidFill>
                  <a:srgbClr val="6F6961"/>
                </a:solidFill>
                <a:latin typeface="Aptos"/>
              </a:rPr>
              <a:t>06</a:t>
            </a:r>
          </a:p>
        </p:txBody>
      </p:sp>
      <p:sp>
        <p:nvSpPr>
          <p:cNvPr id="30" name="Rectangle 14"/>
          <p:cNvSpPr/>
          <p:nvPr/>
        </p:nvSpPr>
        <p:spPr>
          <a:xfrm>
            <a:off x="685800" y="1435608"/>
            <a:ext cx="10817352" cy="10972"/>
          </a:xfrm>
          <a:prstGeom prst="rect">
            <a:avLst/>
          </a:prstGeom>
          <a:solidFill>
            <a:srgbClr val="CFC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15"/>
          <p:cNvSpPr/>
          <p:nvPr/>
        </p:nvSpPr>
        <p:spPr>
          <a:xfrm>
            <a:off x="685800" y="6419088"/>
            <a:ext cx="10817352" cy="10972"/>
          </a:xfrm>
          <a:prstGeom prst="rect">
            <a:avLst/>
          </a:prstGeom>
          <a:solidFill>
            <a:srgbClr val="CFC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999398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0E7"/>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11DB55B-7AEF-4030-B3A9-46907AA397D0}"/>
              </a:ext>
            </a:extLst>
          </p:cNvPr>
          <p:cNvSpPr>
            <a:spLocks noGrp="1"/>
          </p:cNvSpPr>
          <p:nvPr/>
        </p:nvSpPr>
        <p:spPr>
          <a:xfrm>
            <a:off x="0" y="0"/>
            <a:ext cx="12192000" cy="876300"/>
          </a:xfrm>
          <a:prstGeom prst="rect">
            <a:avLst/>
          </a:prstGeom>
          <a:solidFill>
            <a:srgbClr val="F5F0E7"/>
          </a:solidFill>
          <a:ln w="0">
            <a:noFill/>
          </a:ln>
        </p:spPr>
        <p:txBody>
          <a:bodyPr/>
          <a:lstStyle/>
          <a:p>
            <a:endParaRPr lang="en-US"/>
          </a:p>
        </p:txBody>
      </p:sp>
      <p:sp>
        <p:nvSpPr>
          <p:cNvPr id="2" name="Rectangle 1">
            <a:extLst>
              <a:ext uri="{FF2B5EF4-FFF2-40B4-BE49-F238E27FC236}">
                <a16:creationId xmlns:a16="http://schemas.microsoft.com/office/drawing/2014/main" id="{F009C81E-2900-4BDD-9670-701EA993CA9A}"/>
              </a:ext>
            </a:extLst>
          </p:cNvPr>
          <p:cNvSpPr>
            <a:spLocks noGrp="1"/>
          </p:cNvSpPr>
          <p:nvPr/>
        </p:nvSpPr>
        <p:spPr>
          <a:xfrm>
            <a:off x="685800" y="722376"/>
            <a:ext cx="10058400" cy="585216"/>
          </a:xfrm>
          <a:prstGeom prst="rect">
            <a:avLst/>
          </a:prstGeom>
          <a:noFill/>
          <a:ln w="0">
            <a:noFill/>
          </a:ln>
        </p:spPr>
        <p:txBody>
          <a:bodyPr wrap="square" anchor="ctr">
            <a:normAutofit lnSpcReduction="10000"/>
          </a:bodyPr>
          <a:lstStyle/>
          <a:p>
            <a:pPr algn="l">
              <a:defRPr sz="2550" b="1">
                <a:solidFill>
                  <a:srgbClr val="FFFFFF"/>
                </a:solidFill>
                <a:latin typeface="Bitstream Charter"/>
                <a:ea typeface="Bitstream Charter"/>
                <a:cs typeface="Bitstream Charter"/>
              </a:defRPr>
            </a:pPr>
            <a:r>
              <a:rPr lang="en-US" sz="3300" b="1">
                <a:solidFill>
                  <a:srgbClr val="24211E"/>
                </a:solidFill>
                <a:latin typeface="Georgia"/>
                <a:ea typeface="Bitstream Charter"/>
                <a:cs typeface="Bitstream Charter"/>
              </a:rPr>
              <a:t>Test-Set Model Performance</a:t>
            </a:r>
          </a:p>
        </p:txBody>
      </p:sp>
      <p:sp>
        <p:nvSpPr>
          <p:cNvPr id="3" name="Rectangle 2">
            <a:extLst>
              <a:ext uri="{FF2B5EF4-FFF2-40B4-BE49-F238E27FC236}">
                <a16:creationId xmlns:a16="http://schemas.microsoft.com/office/drawing/2014/main" id="{6A04A5ED-4DF7-4727-9A54-91E85544025C}"/>
              </a:ext>
            </a:extLst>
          </p:cNvPr>
          <p:cNvSpPr>
            <a:spLocks noGrp="1"/>
          </p:cNvSpPr>
          <p:nvPr/>
        </p:nvSpPr>
        <p:spPr>
          <a:xfrm>
            <a:off x="685800" y="402336"/>
            <a:ext cx="3474720" cy="219456"/>
          </a:xfrm>
          <a:prstGeom prst="rect">
            <a:avLst/>
          </a:prstGeom>
          <a:noFill/>
          <a:ln w="0">
            <a:noFill/>
          </a:ln>
        </p:spPr>
        <p:txBody>
          <a:bodyPr wrap="square" anchor="ctr">
            <a:normAutofit fontScale="62500" lnSpcReduction="20000"/>
          </a:bodyPr>
          <a:lstStyle/>
          <a:p>
            <a:r>
              <a:rPr lang="en-US" sz="1650" b="1">
                <a:solidFill>
                  <a:srgbClr val="A6462E"/>
                </a:solidFill>
                <a:latin typeface="Aptos"/>
              </a:rPr>
              <a:t>STEP 4</a:t>
            </a:r>
          </a:p>
        </p:txBody>
      </p:sp>
      <p:graphicFrame>
        <p:nvGraphicFramePr>
          <p:cNvPr id="4" name="Chart" descr="Chart">
            <a:extLst>
              <a:ext uri="{FF2B5EF4-FFF2-40B4-BE49-F238E27FC236}">
                <a16:creationId xmlns:a16="http://schemas.microsoft.com/office/drawing/2014/main" id="{A53A935B-3201-470C-833D-49CDC84ACF4B}"/>
              </a:ext>
            </a:extLst>
          </p:cNvPr>
          <p:cNvGraphicFramePr/>
          <p:nvPr>
            <p:extLst>
              <p:ext uri="{D42A27DB-BD31-4B8C-83A1-F6EECF244321}">
                <p14:modId xmlns:p14="http://schemas.microsoft.com/office/powerpoint/2010/main" val="406299258"/>
              </p:ext>
            </p:extLst>
          </p:nvPr>
        </p:nvGraphicFramePr>
        <p:xfrm>
          <a:off x="514350" y="1774545"/>
          <a:ext cx="7810500" cy="4050506"/>
        </p:xfrm>
        <a:graphic>
          <a:graphicData uri="http://schemas.openxmlformats.org/drawingml/2006/chart">
            <c:chart xmlns:c="http://schemas.openxmlformats.org/drawingml/2006/chart" xmlns:r="http://schemas.openxmlformats.org/officeDocument/2006/relationships" r:id="rId3"/>
          </a:graphicData>
        </a:graphic>
      </p:graphicFrame>
      <p:sp>
        <p:nvSpPr>
          <p:cNvPr id="5" name="Rounded Rectangle 4">
            <a:extLst>
              <a:ext uri="{FF2B5EF4-FFF2-40B4-BE49-F238E27FC236}">
                <a16:creationId xmlns:a16="http://schemas.microsoft.com/office/drawing/2014/main" id="{679D1265-B6D9-459B-98B6-E0FD385C336C}"/>
              </a:ext>
            </a:extLst>
          </p:cNvPr>
          <p:cNvSpPr>
            <a:spLocks noGrp="1"/>
          </p:cNvSpPr>
          <p:nvPr/>
        </p:nvSpPr>
        <p:spPr>
          <a:xfrm>
            <a:off x="8610600" y="1957901"/>
            <a:ext cx="2990850" cy="3520440"/>
          </a:xfrm>
          <a:prstGeom prst="roundRect">
            <a:avLst>
              <a:gd name="adj" fmla="val 2548"/>
            </a:avLst>
          </a:prstGeom>
          <a:solidFill>
            <a:srgbClr val="EBE3D8"/>
          </a:solidFill>
          <a:ln w="0">
            <a:noFill/>
          </a:ln>
        </p:spPr>
        <p:txBody>
          <a:bodyPr wrap="square"/>
          <a:lstStyle/>
          <a:p>
            <a:endParaRPr lang="en-US"/>
          </a:p>
        </p:txBody>
      </p:sp>
      <p:sp>
        <p:nvSpPr>
          <p:cNvPr id="6" name="Rectangle 5">
            <a:extLst>
              <a:ext uri="{FF2B5EF4-FFF2-40B4-BE49-F238E27FC236}">
                <a16:creationId xmlns:a16="http://schemas.microsoft.com/office/drawing/2014/main" id="{EBA68B57-1C14-49C2-AD1D-014420B2D418}"/>
              </a:ext>
            </a:extLst>
          </p:cNvPr>
          <p:cNvSpPr>
            <a:spLocks noGrp="1"/>
          </p:cNvSpPr>
          <p:nvPr/>
        </p:nvSpPr>
        <p:spPr>
          <a:xfrm>
            <a:off x="8877300" y="2174595"/>
            <a:ext cx="2457450" cy="316706"/>
          </a:xfrm>
          <a:prstGeom prst="rect">
            <a:avLst/>
          </a:prstGeom>
          <a:noFill/>
          <a:ln w="0">
            <a:noFill/>
          </a:ln>
        </p:spPr>
        <p:txBody>
          <a:bodyPr wrap="square" anchor="ctr">
            <a:normAutofit fontScale="91111" lnSpcReduction="10000"/>
          </a:bodyPr>
          <a:lstStyle>
            <a:defPPr algn="l">
              <a:defRPr sz="1800" b="1">
                <a:solidFill>
                  <a:srgbClr val="24211E"/>
                </a:solidFill>
                <a:latin typeface="Aptos"/>
                <a:ea typeface="Bitstream Charter"/>
                <a:cs typeface="Bitstream Charter"/>
              </a:defRPr>
            </a:defPPr>
          </a:lstStyle>
          <a:p>
            <a:pPr algn="l">
              <a:defRPr sz="1800" b="1">
                <a:solidFill>
                  <a:srgbClr val="24211E"/>
                </a:solidFill>
                <a:latin typeface="Aptos"/>
                <a:ea typeface="Bitstream Charter"/>
                <a:cs typeface="Bitstream Charter"/>
              </a:defRPr>
            </a:pPr>
            <a:r>
              <a:rPr lang="en-US" sz="1800" b="1">
                <a:solidFill>
                  <a:srgbClr val="24211E"/>
                </a:solidFill>
                <a:latin typeface="Aptos"/>
                <a:ea typeface="Bitstream Charter"/>
                <a:cs typeface="Bitstream Charter"/>
              </a:rPr>
              <a:t>Interpretation</a:t>
            </a:r>
          </a:p>
        </p:txBody>
      </p:sp>
      <p:sp>
        <p:nvSpPr>
          <p:cNvPr id="7" name="Rectangle 6">
            <a:extLst>
              <a:ext uri="{FF2B5EF4-FFF2-40B4-BE49-F238E27FC236}">
                <a16:creationId xmlns:a16="http://schemas.microsoft.com/office/drawing/2014/main" id="{63CC2575-D667-46D2-BE76-3F120670761D}"/>
              </a:ext>
            </a:extLst>
          </p:cNvPr>
          <p:cNvSpPr>
            <a:spLocks noGrp="1"/>
          </p:cNvSpPr>
          <p:nvPr/>
        </p:nvSpPr>
        <p:spPr>
          <a:xfrm>
            <a:off x="8896350" y="2641320"/>
            <a:ext cx="2381250" cy="633412"/>
          </a:xfrm>
          <a:prstGeom prst="rect">
            <a:avLst/>
          </a:prstGeom>
          <a:noFill/>
          <a:ln w="0">
            <a:noFill/>
          </a:ln>
        </p:spPr>
        <p:txBody>
          <a:bodyPr wrap="square" anchor="ctr">
            <a:normAutofit fontScale="89576"/>
          </a:bodyPr>
          <a:lstStyle>
            <a:defPPr algn="l">
              <a:defRPr sz="1425" b="0">
                <a:solidFill>
                  <a:srgbClr val="24211E"/>
                </a:solidFill>
                <a:latin typeface="Aptos"/>
                <a:ea typeface="Bitstream Charter"/>
                <a:cs typeface="Bitstream Charter"/>
              </a:defRPr>
            </a:defPPr>
          </a:lstStyle>
          <a:p>
            <a:pPr algn="l">
              <a:defRPr sz="1425" b="0">
                <a:solidFill>
                  <a:srgbClr val="24211E"/>
                </a:solidFill>
                <a:latin typeface="Aptos"/>
                <a:ea typeface="Bitstream Charter"/>
                <a:cs typeface="Bitstream Charter"/>
              </a:defRPr>
            </a:pPr>
            <a:r>
              <a:rPr lang="en-US" sz="1425" b="0">
                <a:solidFill>
                  <a:srgbClr val="24211E"/>
                </a:solidFill>
                <a:latin typeface="Aptos"/>
                <a:ea typeface="Bitstream Charter"/>
                <a:cs typeface="Bitstream Charter"/>
              </a:rPr>
              <a:t>• Dense MLP achieved the highest ROC-AUC at 91.79%.</a:t>
            </a:r>
          </a:p>
        </p:txBody>
      </p:sp>
      <p:sp>
        <p:nvSpPr>
          <p:cNvPr id="8" name="Rectangle 7">
            <a:extLst>
              <a:ext uri="{FF2B5EF4-FFF2-40B4-BE49-F238E27FC236}">
                <a16:creationId xmlns:a16="http://schemas.microsoft.com/office/drawing/2014/main" id="{8FCA9BC3-A66F-4510-9811-A0CA0CE13E2A}"/>
              </a:ext>
            </a:extLst>
          </p:cNvPr>
          <p:cNvSpPr>
            <a:spLocks noGrp="1"/>
          </p:cNvSpPr>
          <p:nvPr/>
        </p:nvSpPr>
        <p:spPr>
          <a:xfrm>
            <a:off x="8896350" y="3341407"/>
            <a:ext cx="2381250" cy="600075"/>
          </a:xfrm>
          <a:prstGeom prst="rect">
            <a:avLst/>
          </a:prstGeom>
          <a:noFill/>
          <a:ln w="0">
            <a:noFill/>
          </a:ln>
        </p:spPr>
        <p:txBody>
          <a:bodyPr wrap="square" anchor="ctr">
            <a:normAutofit/>
          </a:bodyPr>
          <a:lstStyle>
            <a:defPPr algn="l">
              <a:defRPr sz="1425" b="0">
                <a:solidFill>
                  <a:srgbClr val="24211E"/>
                </a:solidFill>
                <a:latin typeface="Aptos"/>
                <a:ea typeface="Bitstream Charter"/>
                <a:cs typeface="Bitstream Charter"/>
              </a:defRPr>
            </a:defPPr>
          </a:lstStyle>
          <a:p>
            <a:pPr algn="l">
              <a:defRPr sz="1425" b="0">
                <a:solidFill>
                  <a:srgbClr val="24211E"/>
                </a:solidFill>
                <a:latin typeface="Aptos"/>
                <a:ea typeface="Bitstream Charter"/>
                <a:cs typeface="Bitstream Charter"/>
              </a:defRPr>
            </a:pPr>
            <a:r>
              <a:rPr lang="en-US" sz="1425" b="0">
                <a:solidFill>
                  <a:srgbClr val="24211E"/>
                </a:solidFill>
                <a:latin typeface="Aptos"/>
                <a:ea typeface="Bitstream Charter"/>
                <a:cs typeface="Bitstream Charter"/>
              </a:rPr>
              <a:t>• MLP F1 reached 70.46% with recall of 87.84%.</a:t>
            </a:r>
          </a:p>
        </p:txBody>
      </p:sp>
      <p:sp>
        <p:nvSpPr>
          <p:cNvPr id="9" name="Rectangle 8">
            <a:extLst>
              <a:ext uri="{FF2B5EF4-FFF2-40B4-BE49-F238E27FC236}">
                <a16:creationId xmlns:a16="http://schemas.microsoft.com/office/drawing/2014/main" id="{2691CD28-A4AC-4AF7-B434-663DFD5D60E0}"/>
              </a:ext>
            </a:extLst>
          </p:cNvPr>
          <p:cNvSpPr>
            <a:spLocks noGrp="1"/>
          </p:cNvSpPr>
          <p:nvPr/>
        </p:nvSpPr>
        <p:spPr>
          <a:xfrm>
            <a:off x="8896350" y="4008157"/>
            <a:ext cx="2381250" cy="600075"/>
          </a:xfrm>
          <a:prstGeom prst="rect">
            <a:avLst/>
          </a:prstGeom>
          <a:noFill/>
          <a:ln w="0">
            <a:noFill/>
          </a:ln>
        </p:spPr>
        <p:txBody>
          <a:bodyPr wrap="square" anchor="ctr">
            <a:normAutofit fontScale="93339"/>
          </a:bodyPr>
          <a:lstStyle>
            <a:defPPr algn="l">
              <a:defRPr sz="1425" b="0">
                <a:solidFill>
                  <a:srgbClr val="24211E"/>
                </a:solidFill>
                <a:latin typeface="Aptos"/>
                <a:ea typeface="Bitstream Charter"/>
                <a:cs typeface="Bitstream Charter"/>
              </a:defRPr>
            </a:defPPr>
          </a:lstStyle>
          <a:p>
            <a:pPr algn="l">
              <a:defRPr sz="1425" b="0">
                <a:solidFill>
                  <a:srgbClr val="24211E"/>
                </a:solidFill>
                <a:latin typeface="Aptos"/>
                <a:ea typeface="Bitstream Charter"/>
                <a:cs typeface="Bitstream Charter"/>
              </a:defRPr>
            </a:pPr>
            <a:r>
              <a:rPr lang="en-US" sz="1425" b="0">
                <a:solidFill>
                  <a:srgbClr val="24211E"/>
                </a:solidFill>
                <a:latin typeface="Aptos"/>
                <a:ea typeface="Bitstream Charter"/>
                <a:cs typeface="Bitstream Charter"/>
              </a:rPr>
              <a:t>• The feature-sequence LSTM reached 81.80% ROC-AUC.</a:t>
            </a:r>
          </a:p>
        </p:txBody>
      </p:sp>
      <p:sp>
        <p:nvSpPr>
          <p:cNvPr id="10" name="Rectangle 9">
            <a:extLst>
              <a:ext uri="{FF2B5EF4-FFF2-40B4-BE49-F238E27FC236}">
                <a16:creationId xmlns:a16="http://schemas.microsoft.com/office/drawing/2014/main" id="{E1A356C2-3B6A-47BA-9C13-E2C57E0A6C12}"/>
              </a:ext>
            </a:extLst>
          </p:cNvPr>
          <p:cNvSpPr>
            <a:spLocks noGrp="1"/>
          </p:cNvSpPr>
          <p:nvPr/>
        </p:nvSpPr>
        <p:spPr>
          <a:xfrm>
            <a:off x="8896350" y="4674907"/>
            <a:ext cx="2381250" cy="516731"/>
          </a:xfrm>
          <a:prstGeom prst="rect">
            <a:avLst/>
          </a:prstGeom>
          <a:noFill/>
          <a:ln w="0">
            <a:noFill/>
          </a:ln>
        </p:spPr>
        <p:txBody>
          <a:bodyPr wrap="square" anchor="ctr">
            <a:normAutofit fontScale="91776"/>
          </a:bodyPr>
          <a:lstStyle>
            <a:defPPr algn="l">
              <a:defRPr sz="1425" b="0">
                <a:solidFill>
                  <a:srgbClr val="24211E"/>
                </a:solidFill>
                <a:latin typeface="Aptos"/>
                <a:ea typeface="Bitstream Charter"/>
                <a:cs typeface="Bitstream Charter"/>
              </a:defRPr>
            </a:defPPr>
          </a:lstStyle>
          <a:p>
            <a:pPr algn="l">
              <a:defRPr sz="1425" b="0">
                <a:solidFill>
                  <a:srgbClr val="24211E"/>
                </a:solidFill>
                <a:latin typeface="Aptos"/>
                <a:ea typeface="Bitstream Charter"/>
                <a:cs typeface="Bitstream Charter"/>
              </a:defRPr>
            </a:pPr>
            <a:r>
              <a:rPr lang="en-US" sz="1425" b="0">
                <a:solidFill>
                  <a:srgbClr val="24211E"/>
                </a:solidFill>
                <a:latin typeface="Aptos"/>
                <a:ea typeface="Bitstream Charter"/>
                <a:cs typeface="Bitstream Charter"/>
              </a:rPr>
              <a:t>• Its weaker result reflects the absence of temporal structure.</a:t>
            </a:r>
          </a:p>
        </p:txBody>
      </p:sp>
      <p:sp>
        <p:nvSpPr>
          <p:cNvPr id="11" name="Rectangle 10">
            <a:extLst>
              <a:ext uri="{FF2B5EF4-FFF2-40B4-BE49-F238E27FC236}">
                <a16:creationId xmlns:a16="http://schemas.microsoft.com/office/drawing/2014/main" id="{21D22D0E-FBD2-4E0B-A8EB-2B3397D7AF8A}"/>
              </a:ext>
            </a:extLst>
          </p:cNvPr>
          <p:cNvSpPr>
            <a:spLocks noGrp="1"/>
          </p:cNvSpPr>
          <p:nvPr/>
        </p:nvSpPr>
        <p:spPr>
          <a:xfrm>
            <a:off x="685800" y="6510528"/>
            <a:ext cx="6400800" cy="164592"/>
          </a:xfrm>
          <a:prstGeom prst="rect">
            <a:avLst/>
          </a:prstGeom>
          <a:noFill/>
          <a:ln w="0">
            <a:noFill/>
          </a:ln>
        </p:spPr>
        <p:txBody>
          <a:bodyPr wrap="square" anchor="ctr">
            <a:normAutofit fontScale="55000" lnSpcReduction="20000"/>
          </a:bodyPr>
          <a:lstStyle/>
          <a:p>
            <a:r>
              <a:rPr lang="en-US" sz="900">
                <a:solidFill>
                  <a:srgbClr val="6F6961"/>
                </a:solidFill>
                <a:latin typeface="Aptos"/>
              </a:rPr>
              <a:t>ANA500   Micro-Project 4   Valentin Diaconu</a:t>
            </a:r>
          </a:p>
        </p:txBody>
      </p:sp>
      <p:sp>
        <p:nvSpPr>
          <p:cNvPr id="12" name="Rectangle 11">
            <a:extLst>
              <a:ext uri="{FF2B5EF4-FFF2-40B4-BE49-F238E27FC236}">
                <a16:creationId xmlns:a16="http://schemas.microsoft.com/office/drawing/2014/main" id="{E3EBCB07-D09F-442A-8357-AC0BBE3D5C95}"/>
              </a:ext>
            </a:extLst>
          </p:cNvPr>
          <p:cNvSpPr>
            <a:spLocks noGrp="1"/>
          </p:cNvSpPr>
          <p:nvPr/>
        </p:nvSpPr>
        <p:spPr>
          <a:xfrm>
            <a:off x="11018520" y="6492240"/>
            <a:ext cx="484632" cy="182880"/>
          </a:xfrm>
          <a:prstGeom prst="rect">
            <a:avLst/>
          </a:prstGeom>
          <a:noFill/>
          <a:ln w="0">
            <a:noFill/>
          </a:ln>
        </p:spPr>
        <p:txBody>
          <a:bodyPr wrap="square" anchor="ctr">
            <a:normAutofit fontScale="70000" lnSpcReduction="20000"/>
          </a:bodyPr>
          <a:lstStyle/>
          <a:p>
            <a:pPr algn="r"/>
            <a:r>
              <a:rPr lang="en-US" sz="980">
                <a:solidFill>
                  <a:srgbClr val="A6462E"/>
                </a:solidFill>
                <a:latin typeface="Aptos"/>
              </a:rPr>
              <a:t>7</a:t>
            </a:r>
          </a:p>
        </p:txBody>
      </p:sp>
      <p:sp>
        <p:nvSpPr>
          <p:cNvPr id="14" name="TextBox 13"/>
          <p:cNvSpPr txBox="1"/>
          <p:nvPr/>
        </p:nvSpPr>
        <p:spPr>
          <a:xfrm>
            <a:off x="11082528" y="429768"/>
            <a:ext cx="411480" cy="201168"/>
          </a:xfrm>
          <a:prstGeom prst="rect">
            <a:avLst/>
          </a:prstGeom>
          <a:noFill/>
        </p:spPr>
        <p:txBody>
          <a:bodyPr wrap="square" lIns="0" tIns="0" rIns="0" bIns="0" anchor="ctr">
            <a:spAutoFit/>
          </a:bodyPr>
          <a:lstStyle/>
          <a:p>
            <a:pPr algn="r"/>
            <a:r>
              <a:rPr sz="1050" b="0">
                <a:solidFill>
                  <a:srgbClr val="6F6961"/>
                </a:solidFill>
                <a:latin typeface="Aptos"/>
              </a:rPr>
              <a:t>07</a:t>
            </a:r>
          </a:p>
        </p:txBody>
      </p:sp>
      <p:sp>
        <p:nvSpPr>
          <p:cNvPr id="15" name="Rectangle 14"/>
          <p:cNvSpPr/>
          <p:nvPr/>
        </p:nvSpPr>
        <p:spPr>
          <a:xfrm>
            <a:off x="685800" y="1435608"/>
            <a:ext cx="10817352" cy="10972"/>
          </a:xfrm>
          <a:prstGeom prst="rect">
            <a:avLst/>
          </a:prstGeom>
          <a:solidFill>
            <a:srgbClr val="CFC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85800" y="6419088"/>
            <a:ext cx="10817352" cy="10972"/>
          </a:xfrm>
          <a:prstGeom prst="rect">
            <a:avLst/>
          </a:prstGeom>
          <a:solidFill>
            <a:srgbClr val="CFC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251338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0E7"/>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CB34472-6019-42AA-AE1E-22404103704E}"/>
              </a:ext>
            </a:extLst>
          </p:cNvPr>
          <p:cNvSpPr>
            <a:spLocks noGrp="1"/>
          </p:cNvSpPr>
          <p:nvPr/>
        </p:nvSpPr>
        <p:spPr>
          <a:xfrm>
            <a:off x="0" y="0"/>
            <a:ext cx="12192000" cy="876300"/>
          </a:xfrm>
          <a:prstGeom prst="rect">
            <a:avLst/>
          </a:prstGeom>
          <a:solidFill>
            <a:srgbClr val="F5F0E7"/>
          </a:solidFill>
          <a:ln w="0">
            <a:noFill/>
          </a:ln>
        </p:spPr>
        <p:txBody>
          <a:bodyPr/>
          <a:lstStyle/>
          <a:p>
            <a:endParaRPr lang="en-US"/>
          </a:p>
        </p:txBody>
      </p:sp>
      <p:sp>
        <p:nvSpPr>
          <p:cNvPr id="2" name="Rectangle 1">
            <a:extLst>
              <a:ext uri="{FF2B5EF4-FFF2-40B4-BE49-F238E27FC236}">
                <a16:creationId xmlns:a16="http://schemas.microsoft.com/office/drawing/2014/main" id="{78025A29-3F88-40E0-A9C0-82A6068CFAA1}"/>
              </a:ext>
            </a:extLst>
          </p:cNvPr>
          <p:cNvSpPr>
            <a:spLocks noGrp="1"/>
          </p:cNvSpPr>
          <p:nvPr/>
        </p:nvSpPr>
        <p:spPr>
          <a:xfrm>
            <a:off x="685800" y="722376"/>
            <a:ext cx="10058400" cy="585216"/>
          </a:xfrm>
          <a:prstGeom prst="rect">
            <a:avLst/>
          </a:prstGeom>
          <a:noFill/>
          <a:ln w="0">
            <a:noFill/>
          </a:ln>
        </p:spPr>
        <p:txBody>
          <a:bodyPr wrap="square" anchor="ctr">
            <a:normAutofit lnSpcReduction="10000"/>
          </a:bodyPr>
          <a:lstStyle/>
          <a:p>
            <a:pPr algn="l">
              <a:defRPr sz="2550" b="1">
                <a:solidFill>
                  <a:srgbClr val="FFFFFF"/>
                </a:solidFill>
                <a:latin typeface="Bitstream Charter"/>
                <a:ea typeface="Bitstream Charter"/>
                <a:cs typeface="Bitstream Charter"/>
              </a:defRPr>
            </a:pPr>
            <a:r>
              <a:rPr lang="en-US" sz="3300" b="1">
                <a:solidFill>
                  <a:srgbClr val="24211E"/>
                </a:solidFill>
                <a:latin typeface="Georgia"/>
                <a:ea typeface="Bitstream Charter"/>
                <a:cs typeface="Bitstream Charter"/>
              </a:rPr>
              <a:t>ROC, Learning, and Classification Errors</a:t>
            </a:r>
          </a:p>
        </p:txBody>
      </p:sp>
      <p:sp>
        <p:nvSpPr>
          <p:cNvPr id="3" name="Rectangle 2">
            <a:extLst>
              <a:ext uri="{FF2B5EF4-FFF2-40B4-BE49-F238E27FC236}">
                <a16:creationId xmlns:a16="http://schemas.microsoft.com/office/drawing/2014/main" id="{9A3A56AD-5067-44A8-A4A1-1BDB7468C3E4}"/>
              </a:ext>
            </a:extLst>
          </p:cNvPr>
          <p:cNvSpPr>
            <a:spLocks noGrp="1"/>
          </p:cNvSpPr>
          <p:nvPr/>
        </p:nvSpPr>
        <p:spPr>
          <a:xfrm>
            <a:off x="685800" y="402336"/>
            <a:ext cx="3474720" cy="219456"/>
          </a:xfrm>
          <a:prstGeom prst="rect">
            <a:avLst/>
          </a:prstGeom>
          <a:noFill/>
          <a:ln w="0">
            <a:noFill/>
          </a:ln>
        </p:spPr>
        <p:txBody>
          <a:bodyPr wrap="square" anchor="ctr">
            <a:normAutofit fontScale="62500" lnSpcReduction="20000"/>
          </a:bodyPr>
          <a:lstStyle/>
          <a:p>
            <a:r>
              <a:rPr lang="en-US" sz="1650" b="1">
                <a:solidFill>
                  <a:srgbClr val="A6462E"/>
                </a:solidFill>
                <a:latin typeface="Aptos"/>
              </a:rPr>
              <a:t>REPORT</a:t>
            </a:r>
          </a:p>
        </p:txBody>
      </p:sp>
      <p:pic>
        <p:nvPicPr>
          <p:cNvPr id="4" name="Picture 3">
            <a:extLst>
              <a:ext uri="{FF2B5EF4-FFF2-40B4-BE49-F238E27FC236}">
                <a16:creationId xmlns:a16="http://schemas.microsoft.com/office/drawing/2014/main" id="{43F7A719-F80D-47BF-9E26-A25356599F6D}"/>
              </a:ext>
            </a:extLst>
          </p:cNvPr>
          <p:cNvPicPr>
            <a:picLocks noChangeAspect="1"/>
          </p:cNvPicPr>
          <p:nvPr/>
        </p:nvPicPr>
        <p:blipFill>
          <a:blip r:embed="rId3"/>
          <a:stretch/>
        </p:blipFill>
        <p:spPr>
          <a:xfrm>
            <a:off x="844153" y="2563760"/>
            <a:ext cx="5417343" cy="2138700"/>
          </a:xfrm>
          <a:prstGeom prst="rect">
            <a:avLst/>
          </a:prstGeom>
        </p:spPr>
      </p:pic>
      <p:pic>
        <p:nvPicPr>
          <p:cNvPr id="5" name="Picture 4">
            <a:extLst>
              <a:ext uri="{FF2B5EF4-FFF2-40B4-BE49-F238E27FC236}">
                <a16:creationId xmlns:a16="http://schemas.microsoft.com/office/drawing/2014/main" id="{E6407A8E-305B-4114-82CA-FA584D98C4D7}"/>
              </a:ext>
            </a:extLst>
          </p:cNvPr>
          <p:cNvPicPr>
            <a:picLocks noChangeAspect="1"/>
          </p:cNvPicPr>
          <p:nvPr/>
        </p:nvPicPr>
        <p:blipFill>
          <a:blip r:embed="rId4"/>
          <a:stretch/>
        </p:blipFill>
        <p:spPr>
          <a:xfrm>
            <a:off x="7109222" y="2493503"/>
            <a:ext cx="4317206" cy="1879164"/>
          </a:xfrm>
          <a:prstGeom prst="rect">
            <a:avLst/>
          </a:prstGeom>
        </p:spPr>
      </p:pic>
      <p:sp>
        <p:nvSpPr>
          <p:cNvPr id="6" name="Rectangle 5">
            <a:extLst>
              <a:ext uri="{FF2B5EF4-FFF2-40B4-BE49-F238E27FC236}">
                <a16:creationId xmlns:a16="http://schemas.microsoft.com/office/drawing/2014/main" id="{3CCA75A3-1339-4BCC-A09A-C1B3F8C469CE}"/>
              </a:ext>
            </a:extLst>
          </p:cNvPr>
          <p:cNvSpPr>
            <a:spLocks noGrp="1"/>
          </p:cNvSpPr>
          <p:nvPr/>
        </p:nvSpPr>
        <p:spPr>
          <a:xfrm>
            <a:off x="7010400" y="5224976"/>
            <a:ext cx="4495800" cy="533400"/>
          </a:xfrm>
          <a:prstGeom prst="rect">
            <a:avLst/>
          </a:prstGeom>
          <a:noFill/>
          <a:ln w="0">
            <a:noFill/>
          </a:ln>
        </p:spPr>
        <p:txBody>
          <a:bodyPr wrap="square" anchor="ctr">
            <a:normAutofit fontScale="85855"/>
          </a:bodyPr>
          <a:lstStyle>
            <a:defPPr algn="ctr">
              <a:defRPr sz="1425" b="1">
                <a:solidFill>
                  <a:srgbClr val="24211E"/>
                </a:solidFill>
                <a:latin typeface="Aptos"/>
                <a:ea typeface="Bitstream Charter"/>
                <a:cs typeface="Bitstream Charter"/>
              </a:defRPr>
            </a:defPPr>
          </a:lstStyle>
          <a:p>
            <a:pPr algn="ctr">
              <a:defRPr sz="1425" b="1">
                <a:solidFill>
                  <a:srgbClr val="24211E"/>
                </a:solidFill>
                <a:latin typeface="Aptos"/>
                <a:ea typeface="Bitstream Charter"/>
                <a:cs typeface="Bitstream Charter"/>
              </a:defRPr>
            </a:pPr>
            <a:r>
              <a:rPr lang="en-US" sz="1425" b="1">
                <a:solidFill>
                  <a:srgbClr val="24211E"/>
                </a:solidFill>
                <a:latin typeface="Aptos"/>
                <a:ea typeface="Bitstream Charter"/>
                <a:cs typeface="Bitstream Charter"/>
              </a:rPr>
              <a:t>The MLP separated the classes more effectively. Both neural models still produced false positives and false negatives.</a:t>
            </a:r>
          </a:p>
        </p:txBody>
      </p:sp>
      <p:sp>
        <p:nvSpPr>
          <p:cNvPr id="7" name="Rectangle 6">
            <a:extLst>
              <a:ext uri="{FF2B5EF4-FFF2-40B4-BE49-F238E27FC236}">
                <a16:creationId xmlns:a16="http://schemas.microsoft.com/office/drawing/2014/main" id="{25FAEF32-D216-4446-9783-5BB004232D18}"/>
              </a:ext>
            </a:extLst>
          </p:cNvPr>
          <p:cNvSpPr>
            <a:spLocks noGrp="1"/>
          </p:cNvSpPr>
          <p:nvPr/>
        </p:nvSpPr>
        <p:spPr>
          <a:xfrm>
            <a:off x="685800" y="6510528"/>
            <a:ext cx="6400800" cy="164592"/>
          </a:xfrm>
          <a:prstGeom prst="rect">
            <a:avLst/>
          </a:prstGeom>
          <a:noFill/>
          <a:ln w="0">
            <a:noFill/>
          </a:ln>
        </p:spPr>
        <p:txBody>
          <a:bodyPr wrap="square" anchor="ctr">
            <a:normAutofit fontScale="55000" lnSpcReduction="20000"/>
          </a:bodyPr>
          <a:lstStyle/>
          <a:p>
            <a:r>
              <a:rPr lang="en-US" sz="900">
                <a:solidFill>
                  <a:srgbClr val="6F6961"/>
                </a:solidFill>
                <a:latin typeface="Aptos"/>
              </a:rPr>
              <a:t>ANA500   Micro-Project 4   Valentin Diaconu</a:t>
            </a:r>
          </a:p>
        </p:txBody>
      </p:sp>
      <p:sp>
        <p:nvSpPr>
          <p:cNvPr id="8" name="Rectangle 7">
            <a:extLst>
              <a:ext uri="{FF2B5EF4-FFF2-40B4-BE49-F238E27FC236}">
                <a16:creationId xmlns:a16="http://schemas.microsoft.com/office/drawing/2014/main" id="{19E66A2F-9E50-4278-A510-F257E8C9BD2B}"/>
              </a:ext>
            </a:extLst>
          </p:cNvPr>
          <p:cNvSpPr>
            <a:spLocks noGrp="1"/>
          </p:cNvSpPr>
          <p:nvPr/>
        </p:nvSpPr>
        <p:spPr>
          <a:xfrm>
            <a:off x="11018520" y="6492240"/>
            <a:ext cx="484632" cy="182880"/>
          </a:xfrm>
          <a:prstGeom prst="rect">
            <a:avLst/>
          </a:prstGeom>
          <a:noFill/>
          <a:ln w="0">
            <a:noFill/>
          </a:ln>
        </p:spPr>
        <p:txBody>
          <a:bodyPr wrap="square" anchor="ctr">
            <a:normAutofit fontScale="70000" lnSpcReduction="20000"/>
          </a:bodyPr>
          <a:lstStyle/>
          <a:p>
            <a:pPr algn="r"/>
            <a:r>
              <a:rPr lang="en-US" sz="980">
                <a:solidFill>
                  <a:srgbClr val="A6462E"/>
                </a:solidFill>
                <a:latin typeface="Aptos"/>
              </a:rPr>
              <a:t>8</a:t>
            </a:r>
          </a:p>
        </p:txBody>
      </p:sp>
      <p:sp>
        <p:nvSpPr>
          <p:cNvPr id="10" name="TextBox 13"/>
          <p:cNvSpPr txBox="1"/>
          <p:nvPr/>
        </p:nvSpPr>
        <p:spPr>
          <a:xfrm>
            <a:off x="11082528" y="429768"/>
            <a:ext cx="411480" cy="201168"/>
          </a:xfrm>
          <a:prstGeom prst="rect">
            <a:avLst/>
          </a:prstGeom>
          <a:noFill/>
        </p:spPr>
        <p:txBody>
          <a:bodyPr wrap="square" lIns="0" tIns="0" rIns="0" bIns="0" anchor="ctr">
            <a:spAutoFit/>
          </a:bodyPr>
          <a:lstStyle/>
          <a:p>
            <a:pPr algn="r"/>
            <a:r>
              <a:rPr sz="1050" b="0">
                <a:solidFill>
                  <a:srgbClr val="6F6961"/>
                </a:solidFill>
                <a:latin typeface="Aptos"/>
              </a:rPr>
              <a:t>08</a:t>
            </a:r>
          </a:p>
        </p:txBody>
      </p:sp>
      <p:sp>
        <p:nvSpPr>
          <p:cNvPr id="11" name="Rectangle 14"/>
          <p:cNvSpPr/>
          <p:nvPr/>
        </p:nvSpPr>
        <p:spPr>
          <a:xfrm>
            <a:off x="685800" y="1435608"/>
            <a:ext cx="10817352" cy="10972"/>
          </a:xfrm>
          <a:prstGeom prst="rect">
            <a:avLst/>
          </a:prstGeom>
          <a:solidFill>
            <a:srgbClr val="CFC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5"/>
          <p:cNvSpPr/>
          <p:nvPr/>
        </p:nvSpPr>
        <p:spPr>
          <a:xfrm>
            <a:off x="685800" y="6419088"/>
            <a:ext cx="10817352" cy="10972"/>
          </a:xfrm>
          <a:prstGeom prst="rect">
            <a:avLst/>
          </a:prstGeom>
          <a:solidFill>
            <a:srgbClr val="CFC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841970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0E7"/>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89020D3A-451F-40EA-91F4-5B4D170A184A}"/>
              </a:ext>
            </a:extLst>
          </p:cNvPr>
          <p:cNvSpPr>
            <a:spLocks noGrp="1"/>
          </p:cNvSpPr>
          <p:nvPr/>
        </p:nvSpPr>
        <p:spPr>
          <a:xfrm>
            <a:off x="0" y="0"/>
            <a:ext cx="12192000" cy="876300"/>
          </a:xfrm>
          <a:prstGeom prst="rect">
            <a:avLst/>
          </a:prstGeom>
          <a:solidFill>
            <a:srgbClr val="F5F0E7"/>
          </a:solidFill>
          <a:ln w="0">
            <a:noFill/>
          </a:ln>
        </p:spPr>
        <p:txBody>
          <a:bodyPr/>
          <a:lstStyle/>
          <a:p>
            <a:endParaRPr lang="en-US"/>
          </a:p>
        </p:txBody>
      </p:sp>
      <p:sp>
        <p:nvSpPr>
          <p:cNvPr id="2" name="Rectangle 1">
            <a:extLst>
              <a:ext uri="{FF2B5EF4-FFF2-40B4-BE49-F238E27FC236}">
                <a16:creationId xmlns:a16="http://schemas.microsoft.com/office/drawing/2014/main" id="{5856BF28-297B-4A4E-9D25-BB75ADEC6C05}"/>
              </a:ext>
            </a:extLst>
          </p:cNvPr>
          <p:cNvSpPr>
            <a:spLocks noGrp="1"/>
          </p:cNvSpPr>
          <p:nvPr/>
        </p:nvSpPr>
        <p:spPr>
          <a:xfrm>
            <a:off x="685800" y="722376"/>
            <a:ext cx="10058400" cy="585216"/>
          </a:xfrm>
          <a:prstGeom prst="rect">
            <a:avLst/>
          </a:prstGeom>
          <a:noFill/>
          <a:ln w="0">
            <a:noFill/>
          </a:ln>
        </p:spPr>
        <p:txBody>
          <a:bodyPr wrap="square" anchor="ctr">
            <a:normAutofit lnSpcReduction="10000"/>
          </a:bodyPr>
          <a:lstStyle/>
          <a:p>
            <a:pPr algn="l">
              <a:defRPr sz="2550" b="1">
                <a:solidFill>
                  <a:srgbClr val="FFFFFF"/>
                </a:solidFill>
                <a:latin typeface="Bitstream Charter"/>
                <a:ea typeface="Bitstream Charter"/>
                <a:cs typeface="Bitstream Charter"/>
              </a:defRPr>
            </a:pPr>
            <a:r>
              <a:rPr lang="en-US" sz="3300" b="1">
                <a:solidFill>
                  <a:srgbClr val="24211E"/>
                </a:solidFill>
                <a:latin typeface="Georgia"/>
                <a:ea typeface="Bitstream Charter"/>
                <a:cs typeface="Bitstream Charter"/>
              </a:rPr>
              <a:t>Conclusion and Action</a:t>
            </a:r>
          </a:p>
        </p:txBody>
      </p:sp>
      <p:sp>
        <p:nvSpPr>
          <p:cNvPr id="3" name="Rectangle 2">
            <a:extLst>
              <a:ext uri="{FF2B5EF4-FFF2-40B4-BE49-F238E27FC236}">
                <a16:creationId xmlns:a16="http://schemas.microsoft.com/office/drawing/2014/main" id="{BF3DEF27-042B-4449-834A-84C2A2F9FBBC}"/>
              </a:ext>
            </a:extLst>
          </p:cNvPr>
          <p:cNvSpPr>
            <a:spLocks noGrp="1"/>
          </p:cNvSpPr>
          <p:nvPr/>
        </p:nvSpPr>
        <p:spPr>
          <a:xfrm>
            <a:off x="685800" y="402336"/>
            <a:ext cx="3474720" cy="219456"/>
          </a:xfrm>
          <a:prstGeom prst="rect">
            <a:avLst/>
          </a:prstGeom>
          <a:noFill/>
          <a:ln w="0">
            <a:noFill/>
          </a:ln>
        </p:spPr>
        <p:txBody>
          <a:bodyPr wrap="square" anchor="ctr">
            <a:normAutofit fontScale="62500" lnSpcReduction="20000"/>
          </a:bodyPr>
          <a:lstStyle/>
          <a:p>
            <a:r>
              <a:rPr lang="en-US" sz="1650" b="1">
                <a:solidFill>
                  <a:srgbClr val="A6462E"/>
                </a:solidFill>
                <a:latin typeface="Aptos"/>
              </a:rPr>
              <a:t>STEP 5</a:t>
            </a:r>
          </a:p>
        </p:txBody>
      </p:sp>
      <p:sp>
        <p:nvSpPr>
          <p:cNvPr id="4" name="Rounded Rectangle 3">
            <a:extLst>
              <a:ext uri="{FF2B5EF4-FFF2-40B4-BE49-F238E27FC236}">
                <a16:creationId xmlns:a16="http://schemas.microsoft.com/office/drawing/2014/main" id="{9E6CA2CC-3C2A-4F66-941B-92A5FB191335}"/>
              </a:ext>
            </a:extLst>
          </p:cNvPr>
          <p:cNvSpPr>
            <a:spLocks noGrp="1"/>
          </p:cNvSpPr>
          <p:nvPr/>
        </p:nvSpPr>
        <p:spPr>
          <a:xfrm>
            <a:off x="590550" y="1807882"/>
            <a:ext cx="5143500" cy="3367087"/>
          </a:xfrm>
          <a:prstGeom prst="roundRect">
            <a:avLst>
              <a:gd name="adj" fmla="val 1980"/>
            </a:avLst>
          </a:prstGeom>
          <a:solidFill>
            <a:srgbClr val="E7DFD2"/>
          </a:solidFill>
          <a:ln w="0">
            <a:noFill/>
          </a:ln>
        </p:spPr>
        <p:txBody>
          <a:bodyPr wrap="square"/>
          <a:lstStyle/>
          <a:p>
            <a:endParaRPr lang="en-US"/>
          </a:p>
        </p:txBody>
      </p:sp>
      <p:sp>
        <p:nvSpPr>
          <p:cNvPr id="5" name="Rectangle 4">
            <a:extLst>
              <a:ext uri="{FF2B5EF4-FFF2-40B4-BE49-F238E27FC236}">
                <a16:creationId xmlns:a16="http://schemas.microsoft.com/office/drawing/2014/main" id="{8F42B70B-2D01-420B-92CE-DDDCB3824452}"/>
              </a:ext>
            </a:extLst>
          </p:cNvPr>
          <p:cNvSpPr>
            <a:spLocks noGrp="1"/>
          </p:cNvSpPr>
          <p:nvPr/>
        </p:nvSpPr>
        <p:spPr>
          <a:xfrm>
            <a:off x="876300" y="2041245"/>
            <a:ext cx="4572000" cy="333375"/>
          </a:xfrm>
          <a:prstGeom prst="rect">
            <a:avLst/>
          </a:prstGeom>
          <a:noFill/>
          <a:ln w="0">
            <a:noFill/>
          </a:ln>
        </p:spPr>
        <p:txBody>
          <a:bodyPr wrap="square" anchor="ctr">
            <a:normAutofit fontScale="89936" lnSpcReduction="20000"/>
          </a:bodyPr>
          <a:lstStyle>
            <a:defPPr algn="l">
              <a:defRPr sz="1950" b="1">
                <a:solidFill>
                  <a:srgbClr val="A6462E"/>
                </a:solidFill>
                <a:latin typeface="Aptos"/>
                <a:ea typeface="Bitstream Charter"/>
                <a:cs typeface="Bitstream Charter"/>
              </a:defRPr>
            </a:defPPr>
          </a:lstStyle>
          <a:p>
            <a:pPr algn="l">
              <a:defRPr sz="1950" b="1">
                <a:solidFill>
                  <a:srgbClr val="A6462E"/>
                </a:solidFill>
                <a:latin typeface="Aptos"/>
                <a:ea typeface="Bitstream Charter"/>
                <a:cs typeface="Bitstream Charter"/>
              </a:defRPr>
            </a:pPr>
            <a:r>
              <a:rPr lang="en-US" sz="1950" b="1">
                <a:solidFill>
                  <a:srgbClr val="24211E"/>
                </a:solidFill>
                <a:latin typeface="Aptos"/>
                <a:ea typeface="Bitstream Charter"/>
                <a:cs typeface="Bitstream Charter"/>
              </a:rPr>
              <a:t>Selected benchmark</a:t>
            </a:r>
          </a:p>
        </p:txBody>
      </p:sp>
      <p:sp>
        <p:nvSpPr>
          <p:cNvPr id="6" name="Rectangle 5">
            <a:extLst>
              <a:ext uri="{FF2B5EF4-FFF2-40B4-BE49-F238E27FC236}">
                <a16:creationId xmlns:a16="http://schemas.microsoft.com/office/drawing/2014/main" id="{E6A4DBC6-A7EF-4534-9FCE-FDA6F2BC9076}"/>
              </a:ext>
            </a:extLst>
          </p:cNvPr>
          <p:cNvSpPr>
            <a:spLocks noGrp="1"/>
          </p:cNvSpPr>
          <p:nvPr/>
        </p:nvSpPr>
        <p:spPr>
          <a:xfrm>
            <a:off x="876300" y="2507970"/>
            <a:ext cx="4572000" cy="366712"/>
          </a:xfrm>
          <a:prstGeom prst="rect">
            <a:avLst/>
          </a:prstGeom>
          <a:noFill/>
          <a:ln w="0">
            <a:noFill/>
          </a:ln>
        </p:spPr>
        <p:txBody>
          <a:bodyPr wrap="square" anchor="ctr">
            <a:normAutofit fontScale="89583" lnSpcReduction="20000"/>
          </a:bodyPr>
          <a:lstStyle>
            <a:defPPr algn="l">
              <a:defRPr sz="2400" b="1">
                <a:solidFill>
                  <a:srgbClr val="24211E"/>
                </a:solidFill>
                <a:latin typeface="Aptos"/>
                <a:ea typeface="Bitstream Charter"/>
                <a:cs typeface="Bitstream Charter"/>
              </a:defRPr>
            </a:defPPr>
          </a:lstStyle>
          <a:p>
            <a:pPr algn="l">
              <a:defRPr sz="2400" b="1">
                <a:solidFill>
                  <a:srgbClr val="24211E"/>
                </a:solidFill>
                <a:latin typeface="Aptos"/>
                <a:ea typeface="Bitstream Charter"/>
                <a:cs typeface="Bitstream Charter"/>
              </a:defRPr>
            </a:pPr>
            <a:r>
              <a:rPr lang="en-US" sz="2400" b="1">
                <a:solidFill>
                  <a:srgbClr val="24211E"/>
                </a:solidFill>
                <a:latin typeface="Aptos"/>
                <a:ea typeface="Bitstream Charter"/>
                <a:cs typeface="Bitstream Charter"/>
              </a:rPr>
              <a:t>Dense MLP</a:t>
            </a:r>
          </a:p>
        </p:txBody>
      </p:sp>
      <p:sp>
        <p:nvSpPr>
          <p:cNvPr id="7" name="Rectangle 6">
            <a:extLst>
              <a:ext uri="{FF2B5EF4-FFF2-40B4-BE49-F238E27FC236}">
                <a16:creationId xmlns:a16="http://schemas.microsoft.com/office/drawing/2014/main" id="{BB6D4943-55F2-45DD-A9FD-9622FDD615FA}"/>
              </a:ext>
            </a:extLst>
          </p:cNvPr>
          <p:cNvSpPr>
            <a:spLocks noGrp="1"/>
          </p:cNvSpPr>
          <p:nvPr/>
        </p:nvSpPr>
        <p:spPr>
          <a:xfrm>
            <a:off x="895350" y="3074707"/>
            <a:ext cx="4191000" cy="350043"/>
          </a:xfrm>
          <a:prstGeom prst="rect">
            <a:avLst/>
          </a:prstGeom>
          <a:noFill/>
          <a:ln w="0">
            <a:noFill/>
          </a:ln>
        </p:spPr>
        <p:txBody>
          <a:bodyPr wrap="square" anchor="ctr">
            <a:normAutofit/>
          </a:bodyPr>
          <a:lstStyle>
            <a:defPPr algn="l">
              <a:defRPr sz="1500" b="0">
                <a:solidFill>
                  <a:srgbClr val="24211E"/>
                </a:solidFill>
                <a:latin typeface="Aptos"/>
                <a:ea typeface="Bitstream Charter"/>
                <a:cs typeface="Bitstream Charter"/>
              </a:defRPr>
            </a:defPPr>
          </a:lstStyle>
          <a:p>
            <a:pPr algn="l">
              <a:defRPr sz="1500" b="0">
                <a:solidFill>
                  <a:srgbClr val="24211E"/>
                </a:solidFill>
                <a:latin typeface="Aptos"/>
                <a:ea typeface="Bitstream Charter"/>
                <a:cs typeface="Bitstream Charter"/>
              </a:defRPr>
            </a:pPr>
            <a:r>
              <a:rPr lang="en-US" sz="1500" b="0">
                <a:solidFill>
                  <a:srgbClr val="24211E"/>
                </a:solidFill>
                <a:latin typeface="Aptos"/>
                <a:ea typeface="Bitstream Charter"/>
                <a:cs typeface="Bitstream Charter"/>
              </a:rPr>
              <a:t>• Accuracy: 82.26%</a:t>
            </a:r>
          </a:p>
        </p:txBody>
      </p:sp>
      <p:sp>
        <p:nvSpPr>
          <p:cNvPr id="8" name="Rectangle 7">
            <a:extLst>
              <a:ext uri="{FF2B5EF4-FFF2-40B4-BE49-F238E27FC236}">
                <a16:creationId xmlns:a16="http://schemas.microsoft.com/office/drawing/2014/main" id="{6960096C-01DD-4B8D-BA61-68C0BD7D77FE}"/>
              </a:ext>
            </a:extLst>
          </p:cNvPr>
          <p:cNvSpPr>
            <a:spLocks noGrp="1"/>
          </p:cNvSpPr>
          <p:nvPr/>
        </p:nvSpPr>
        <p:spPr>
          <a:xfrm>
            <a:off x="895350" y="3474757"/>
            <a:ext cx="4191000" cy="350043"/>
          </a:xfrm>
          <a:prstGeom prst="rect">
            <a:avLst/>
          </a:prstGeom>
          <a:noFill/>
          <a:ln w="0">
            <a:noFill/>
          </a:ln>
        </p:spPr>
        <p:txBody>
          <a:bodyPr wrap="square" anchor="ctr">
            <a:normAutofit/>
          </a:bodyPr>
          <a:lstStyle>
            <a:defPPr algn="l">
              <a:defRPr sz="1500" b="0">
                <a:solidFill>
                  <a:srgbClr val="24211E"/>
                </a:solidFill>
                <a:latin typeface="Aptos"/>
                <a:ea typeface="Bitstream Charter"/>
                <a:cs typeface="Bitstream Charter"/>
              </a:defRPr>
            </a:defPPr>
          </a:lstStyle>
          <a:p>
            <a:pPr algn="l">
              <a:defRPr sz="1500" b="0">
                <a:solidFill>
                  <a:srgbClr val="24211E"/>
                </a:solidFill>
                <a:latin typeface="Aptos"/>
                <a:ea typeface="Bitstream Charter"/>
                <a:cs typeface="Bitstream Charter"/>
              </a:defRPr>
            </a:pPr>
            <a:r>
              <a:rPr lang="en-US" sz="1500" b="0">
                <a:solidFill>
                  <a:srgbClr val="24211E"/>
                </a:solidFill>
                <a:latin typeface="Aptos"/>
                <a:ea typeface="Bitstream Charter"/>
                <a:cs typeface="Bitstream Charter"/>
              </a:rPr>
              <a:t>• ROC-AUC: 91.79%</a:t>
            </a:r>
          </a:p>
        </p:txBody>
      </p:sp>
      <p:sp>
        <p:nvSpPr>
          <p:cNvPr id="9" name="Rectangle 8">
            <a:extLst>
              <a:ext uri="{FF2B5EF4-FFF2-40B4-BE49-F238E27FC236}">
                <a16:creationId xmlns:a16="http://schemas.microsoft.com/office/drawing/2014/main" id="{38910B1F-A07B-4C29-ABE6-CD6F1977C4A3}"/>
              </a:ext>
            </a:extLst>
          </p:cNvPr>
          <p:cNvSpPr>
            <a:spLocks noGrp="1"/>
          </p:cNvSpPr>
          <p:nvPr/>
        </p:nvSpPr>
        <p:spPr>
          <a:xfrm>
            <a:off x="895350" y="3874807"/>
            <a:ext cx="4191000" cy="350043"/>
          </a:xfrm>
          <a:prstGeom prst="rect">
            <a:avLst/>
          </a:prstGeom>
          <a:noFill/>
          <a:ln w="0">
            <a:noFill/>
          </a:ln>
        </p:spPr>
        <p:txBody>
          <a:bodyPr wrap="square" anchor="ctr">
            <a:normAutofit/>
          </a:bodyPr>
          <a:lstStyle>
            <a:defPPr algn="l">
              <a:defRPr sz="1500" b="0">
                <a:solidFill>
                  <a:srgbClr val="24211E"/>
                </a:solidFill>
                <a:latin typeface="Aptos"/>
                <a:ea typeface="Bitstream Charter"/>
                <a:cs typeface="Bitstream Charter"/>
              </a:defRPr>
            </a:defPPr>
          </a:lstStyle>
          <a:p>
            <a:pPr algn="l">
              <a:defRPr sz="1500" b="0">
                <a:solidFill>
                  <a:srgbClr val="24211E"/>
                </a:solidFill>
                <a:latin typeface="Aptos"/>
                <a:ea typeface="Bitstream Charter"/>
                <a:cs typeface="Bitstream Charter"/>
              </a:defRPr>
            </a:pPr>
            <a:r>
              <a:rPr lang="en-US" sz="1500" b="0">
                <a:solidFill>
                  <a:srgbClr val="24211E"/>
                </a:solidFill>
                <a:latin typeface="Aptos"/>
                <a:ea typeface="Bitstream Charter"/>
                <a:cs typeface="Bitstream Charter"/>
              </a:rPr>
              <a:t>• Recall: 87.84%</a:t>
            </a:r>
          </a:p>
        </p:txBody>
      </p:sp>
      <p:sp>
        <p:nvSpPr>
          <p:cNvPr id="10" name="Rectangle 9">
            <a:extLst>
              <a:ext uri="{FF2B5EF4-FFF2-40B4-BE49-F238E27FC236}">
                <a16:creationId xmlns:a16="http://schemas.microsoft.com/office/drawing/2014/main" id="{F31188BB-3072-4CCE-A374-4EBFDF7B0691}"/>
              </a:ext>
            </a:extLst>
          </p:cNvPr>
          <p:cNvSpPr>
            <a:spLocks noGrp="1"/>
          </p:cNvSpPr>
          <p:nvPr/>
        </p:nvSpPr>
        <p:spPr>
          <a:xfrm>
            <a:off x="895350" y="4274857"/>
            <a:ext cx="4191000" cy="350043"/>
          </a:xfrm>
          <a:prstGeom prst="rect">
            <a:avLst/>
          </a:prstGeom>
          <a:noFill/>
          <a:ln w="0">
            <a:noFill/>
          </a:ln>
        </p:spPr>
        <p:txBody>
          <a:bodyPr wrap="square" anchor="ctr">
            <a:normAutofit/>
          </a:bodyPr>
          <a:lstStyle>
            <a:defPPr algn="l">
              <a:defRPr sz="1500" b="0">
                <a:solidFill>
                  <a:srgbClr val="24211E"/>
                </a:solidFill>
                <a:latin typeface="Aptos"/>
                <a:ea typeface="Bitstream Charter"/>
                <a:cs typeface="Bitstream Charter"/>
              </a:defRPr>
            </a:defPPr>
          </a:lstStyle>
          <a:p>
            <a:pPr algn="l">
              <a:defRPr sz="1500" b="0">
                <a:solidFill>
                  <a:srgbClr val="24211E"/>
                </a:solidFill>
                <a:latin typeface="Aptos"/>
                <a:ea typeface="Bitstream Charter"/>
                <a:cs typeface="Bitstream Charter"/>
              </a:defRPr>
            </a:pPr>
            <a:r>
              <a:rPr lang="en-US" sz="1500" b="0">
                <a:solidFill>
                  <a:srgbClr val="24211E"/>
                </a:solidFill>
                <a:latin typeface="Aptos"/>
                <a:ea typeface="Bitstream Charter"/>
                <a:cs typeface="Bitstream Charter"/>
              </a:rPr>
              <a:t>• F1 score: 70.46%</a:t>
            </a:r>
          </a:p>
        </p:txBody>
      </p:sp>
      <p:sp>
        <p:nvSpPr>
          <p:cNvPr id="11" name="Rounded Rectangle 10">
            <a:extLst>
              <a:ext uri="{FF2B5EF4-FFF2-40B4-BE49-F238E27FC236}">
                <a16:creationId xmlns:a16="http://schemas.microsoft.com/office/drawing/2014/main" id="{33FCF4A5-4EFB-4CFF-9C76-5A37A15024D0}"/>
              </a:ext>
            </a:extLst>
          </p:cNvPr>
          <p:cNvSpPr>
            <a:spLocks noGrp="1"/>
          </p:cNvSpPr>
          <p:nvPr/>
        </p:nvSpPr>
        <p:spPr>
          <a:xfrm>
            <a:off x="6115050" y="1807882"/>
            <a:ext cx="5486400" cy="3367087"/>
          </a:xfrm>
          <a:prstGeom prst="roundRect">
            <a:avLst>
              <a:gd name="adj" fmla="val 1980"/>
            </a:avLst>
          </a:prstGeom>
          <a:solidFill>
            <a:srgbClr val="F1E2D7"/>
          </a:solidFill>
          <a:ln w="0">
            <a:noFill/>
          </a:ln>
        </p:spPr>
        <p:txBody>
          <a:bodyPr wrap="square"/>
          <a:lstStyle/>
          <a:p>
            <a:endParaRPr lang="en-US"/>
          </a:p>
        </p:txBody>
      </p:sp>
      <p:sp>
        <p:nvSpPr>
          <p:cNvPr id="12" name="Rectangle 11">
            <a:extLst>
              <a:ext uri="{FF2B5EF4-FFF2-40B4-BE49-F238E27FC236}">
                <a16:creationId xmlns:a16="http://schemas.microsoft.com/office/drawing/2014/main" id="{77D6CED0-5239-48CB-887F-85BD11E47541}"/>
              </a:ext>
            </a:extLst>
          </p:cNvPr>
          <p:cNvSpPr>
            <a:spLocks noGrp="1"/>
          </p:cNvSpPr>
          <p:nvPr/>
        </p:nvSpPr>
        <p:spPr>
          <a:xfrm>
            <a:off x="6400800" y="2041245"/>
            <a:ext cx="4914900" cy="333375"/>
          </a:xfrm>
          <a:prstGeom prst="rect">
            <a:avLst/>
          </a:prstGeom>
          <a:noFill/>
          <a:ln w="0">
            <a:noFill/>
          </a:ln>
        </p:spPr>
        <p:txBody>
          <a:bodyPr wrap="square" anchor="ctr">
            <a:normAutofit fontScale="89936" lnSpcReduction="20000"/>
          </a:bodyPr>
          <a:lstStyle>
            <a:defPPr algn="l">
              <a:defRPr sz="1950" b="1">
                <a:solidFill>
                  <a:srgbClr val="A6462E"/>
                </a:solidFill>
                <a:latin typeface="Aptos"/>
                <a:ea typeface="Bitstream Charter"/>
                <a:cs typeface="Bitstream Charter"/>
              </a:defRPr>
            </a:defPPr>
          </a:lstStyle>
          <a:p>
            <a:pPr algn="l">
              <a:defRPr sz="1950" b="1">
                <a:solidFill>
                  <a:srgbClr val="A6462E"/>
                </a:solidFill>
                <a:latin typeface="Aptos"/>
                <a:ea typeface="Bitstream Charter"/>
                <a:cs typeface="Bitstream Charter"/>
              </a:defRPr>
            </a:pPr>
            <a:r>
              <a:rPr lang="en-US" sz="1950" b="1">
                <a:solidFill>
                  <a:srgbClr val="A6462E"/>
                </a:solidFill>
                <a:latin typeface="Aptos"/>
                <a:ea typeface="Bitstream Charter"/>
                <a:cs typeface="Bitstream Charter"/>
              </a:rPr>
              <a:t>Responsible next steps</a:t>
            </a:r>
          </a:p>
        </p:txBody>
      </p:sp>
      <p:sp>
        <p:nvSpPr>
          <p:cNvPr id="13" name="Rectangle 12">
            <a:extLst>
              <a:ext uri="{FF2B5EF4-FFF2-40B4-BE49-F238E27FC236}">
                <a16:creationId xmlns:a16="http://schemas.microsoft.com/office/drawing/2014/main" id="{44E4434F-9EFE-4BFC-8DF1-450700817C24}"/>
              </a:ext>
            </a:extLst>
          </p:cNvPr>
          <p:cNvSpPr>
            <a:spLocks noGrp="1"/>
          </p:cNvSpPr>
          <p:nvPr/>
        </p:nvSpPr>
        <p:spPr>
          <a:xfrm>
            <a:off x="6419850" y="2541307"/>
            <a:ext cx="4667250" cy="566737"/>
          </a:xfrm>
          <a:prstGeom prst="rect">
            <a:avLst/>
          </a:prstGeom>
          <a:noFill/>
          <a:ln w="0">
            <a:noFill/>
          </a:ln>
        </p:spPr>
        <p:txBody>
          <a:bodyPr wrap="square" anchor="ctr">
            <a:normAutofit/>
          </a:bodyPr>
          <a:lstStyle>
            <a:defPPr algn="l">
              <a:defRPr sz="1500" b="0">
                <a:solidFill>
                  <a:srgbClr val="24211E"/>
                </a:solidFill>
                <a:latin typeface="Aptos"/>
                <a:ea typeface="Bitstream Charter"/>
                <a:cs typeface="Bitstream Charter"/>
              </a:defRPr>
            </a:defPPr>
          </a:lstStyle>
          <a:p>
            <a:pPr algn="l">
              <a:defRPr sz="1500" b="0">
                <a:solidFill>
                  <a:srgbClr val="24211E"/>
                </a:solidFill>
                <a:latin typeface="Aptos"/>
                <a:ea typeface="Bitstream Charter"/>
                <a:cs typeface="Bitstream Charter"/>
              </a:defRPr>
            </a:pPr>
            <a:r>
              <a:rPr lang="en-US" sz="1500" b="0">
                <a:solidFill>
                  <a:srgbClr val="24211E"/>
                </a:solidFill>
                <a:latin typeface="Aptos"/>
                <a:ea typeface="Bitstream Charter"/>
                <a:cs typeface="Bitstream Charter"/>
              </a:rPr>
              <a:t>• Tune the probability threshold for a defined analytical purpose.</a:t>
            </a:r>
          </a:p>
        </p:txBody>
      </p:sp>
      <p:sp>
        <p:nvSpPr>
          <p:cNvPr id="14" name="Rectangle 13">
            <a:extLst>
              <a:ext uri="{FF2B5EF4-FFF2-40B4-BE49-F238E27FC236}">
                <a16:creationId xmlns:a16="http://schemas.microsoft.com/office/drawing/2014/main" id="{34F3214F-AC7D-46A4-9E24-53F19DC334A8}"/>
              </a:ext>
            </a:extLst>
          </p:cNvPr>
          <p:cNvSpPr>
            <a:spLocks noGrp="1"/>
          </p:cNvSpPr>
          <p:nvPr/>
        </p:nvSpPr>
        <p:spPr>
          <a:xfrm>
            <a:off x="6419850" y="3208057"/>
            <a:ext cx="4667250" cy="516731"/>
          </a:xfrm>
          <a:prstGeom prst="rect">
            <a:avLst/>
          </a:prstGeom>
          <a:noFill/>
          <a:ln w="0">
            <a:noFill/>
          </a:ln>
        </p:spPr>
        <p:txBody>
          <a:bodyPr wrap="square" anchor="ctr">
            <a:normAutofit/>
          </a:bodyPr>
          <a:lstStyle>
            <a:defPPr algn="l">
              <a:defRPr sz="1500" b="0">
                <a:solidFill>
                  <a:srgbClr val="24211E"/>
                </a:solidFill>
                <a:latin typeface="Aptos"/>
                <a:ea typeface="Bitstream Charter"/>
                <a:cs typeface="Bitstream Charter"/>
              </a:defRPr>
            </a:defPPr>
          </a:lstStyle>
          <a:p>
            <a:pPr algn="l">
              <a:defRPr sz="1500" b="0">
                <a:solidFill>
                  <a:srgbClr val="24211E"/>
                </a:solidFill>
                <a:latin typeface="Aptos"/>
                <a:ea typeface="Bitstream Charter"/>
                <a:cs typeface="Bitstream Charter"/>
              </a:defRPr>
            </a:pPr>
            <a:r>
              <a:rPr lang="en-US" sz="1500" b="0">
                <a:solidFill>
                  <a:srgbClr val="24211E"/>
                </a:solidFill>
                <a:latin typeface="Aptos"/>
                <a:ea typeface="Bitstream Charter"/>
                <a:cs typeface="Bitstream Charter"/>
              </a:rPr>
              <a:t>• Check calibration and subgroup performance.</a:t>
            </a:r>
          </a:p>
        </p:txBody>
      </p:sp>
      <p:sp>
        <p:nvSpPr>
          <p:cNvPr id="15" name="Rectangle 14">
            <a:extLst>
              <a:ext uri="{FF2B5EF4-FFF2-40B4-BE49-F238E27FC236}">
                <a16:creationId xmlns:a16="http://schemas.microsoft.com/office/drawing/2014/main" id="{5797DCD2-35B9-4C18-8AB3-771D2DBD6C01}"/>
              </a:ext>
            </a:extLst>
          </p:cNvPr>
          <p:cNvSpPr>
            <a:spLocks noGrp="1"/>
          </p:cNvSpPr>
          <p:nvPr/>
        </p:nvSpPr>
        <p:spPr>
          <a:xfrm>
            <a:off x="6419850" y="3824801"/>
            <a:ext cx="4667250" cy="566737"/>
          </a:xfrm>
          <a:prstGeom prst="rect">
            <a:avLst/>
          </a:prstGeom>
          <a:noFill/>
          <a:ln w="0">
            <a:noFill/>
          </a:ln>
        </p:spPr>
        <p:txBody>
          <a:bodyPr wrap="square" anchor="ctr">
            <a:normAutofit/>
          </a:bodyPr>
          <a:lstStyle>
            <a:defPPr algn="l">
              <a:defRPr sz="1500" b="0">
                <a:solidFill>
                  <a:srgbClr val="24211E"/>
                </a:solidFill>
                <a:latin typeface="Aptos"/>
                <a:ea typeface="Bitstream Charter"/>
                <a:cs typeface="Bitstream Charter"/>
              </a:defRPr>
            </a:defPPr>
          </a:lstStyle>
          <a:p>
            <a:pPr algn="l">
              <a:defRPr sz="1500" b="0">
                <a:solidFill>
                  <a:srgbClr val="24211E"/>
                </a:solidFill>
                <a:latin typeface="Aptos"/>
                <a:ea typeface="Bitstream Charter"/>
                <a:cs typeface="Bitstream Charter"/>
              </a:defRPr>
            </a:pPr>
            <a:r>
              <a:rPr lang="en-US" sz="1500" b="0">
                <a:solidFill>
                  <a:srgbClr val="24211E"/>
                </a:solidFill>
                <a:latin typeface="Aptos"/>
                <a:ea typeface="Bitstream Charter"/>
                <a:cs typeface="Bitstream Charter"/>
              </a:rPr>
              <a:t>• Use current representative data before external application.</a:t>
            </a:r>
          </a:p>
        </p:txBody>
      </p:sp>
      <p:sp>
        <p:nvSpPr>
          <p:cNvPr id="16" name="Rectangle 15">
            <a:extLst>
              <a:ext uri="{FF2B5EF4-FFF2-40B4-BE49-F238E27FC236}">
                <a16:creationId xmlns:a16="http://schemas.microsoft.com/office/drawing/2014/main" id="{11C994F8-0D93-4CB8-96CB-8961570C7AB6}"/>
              </a:ext>
            </a:extLst>
          </p:cNvPr>
          <p:cNvSpPr>
            <a:spLocks noGrp="1"/>
          </p:cNvSpPr>
          <p:nvPr/>
        </p:nvSpPr>
        <p:spPr>
          <a:xfrm>
            <a:off x="6419850" y="4491551"/>
            <a:ext cx="4667250" cy="483393"/>
          </a:xfrm>
          <a:prstGeom prst="rect">
            <a:avLst/>
          </a:prstGeom>
          <a:noFill/>
          <a:ln w="0">
            <a:noFill/>
          </a:ln>
        </p:spPr>
        <p:txBody>
          <a:bodyPr wrap="square" anchor="ctr">
            <a:normAutofit/>
          </a:bodyPr>
          <a:lstStyle>
            <a:defPPr algn="l">
              <a:defRPr sz="1500" b="0">
                <a:solidFill>
                  <a:srgbClr val="24211E"/>
                </a:solidFill>
                <a:latin typeface="Aptos"/>
                <a:ea typeface="Bitstream Charter"/>
                <a:cs typeface="Bitstream Charter"/>
              </a:defRPr>
            </a:defPPr>
          </a:lstStyle>
          <a:p>
            <a:pPr algn="l">
              <a:defRPr sz="1500" b="0">
                <a:solidFill>
                  <a:srgbClr val="24211E"/>
                </a:solidFill>
                <a:latin typeface="Aptos"/>
                <a:ea typeface="Bitstream Charter"/>
                <a:cs typeface="Bitstream Charter"/>
              </a:defRPr>
            </a:pPr>
            <a:r>
              <a:rPr lang="en-US" sz="1500" b="0">
                <a:solidFill>
                  <a:srgbClr val="24211E"/>
                </a:solidFill>
                <a:latin typeface="Aptos"/>
                <a:ea typeface="Bitstream Charter"/>
                <a:cs typeface="Bitstream Charter"/>
              </a:rPr>
              <a:t>• Keep human review for any consequential decision.</a:t>
            </a:r>
          </a:p>
        </p:txBody>
      </p:sp>
      <p:sp>
        <p:nvSpPr>
          <p:cNvPr id="17" name="Rectangle 16">
            <a:extLst>
              <a:ext uri="{FF2B5EF4-FFF2-40B4-BE49-F238E27FC236}">
                <a16:creationId xmlns:a16="http://schemas.microsoft.com/office/drawing/2014/main" id="{01C8D73A-C1F9-4E88-A63C-8C823838D5AD}"/>
              </a:ext>
            </a:extLst>
          </p:cNvPr>
          <p:cNvSpPr>
            <a:spLocks noGrp="1"/>
          </p:cNvSpPr>
          <p:nvPr/>
        </p:nvSpPr>
        <p:spPr>
          <a:xfrm>
            <a:off x="857250" y="5441670"/>
            <a:ext cx="10477500" cy="416718"/>
          </a:xfrm>
          <a:prstGeom prst="rect">
            <a:avLst/>
          </a:prstGeom>
          <a:noFill/>
          <a:ln w="0">
            <a:noFill/>
          </a:ln>
        </p:spPr>
        <p:txBody>
          <a:bodyPr wrap="square" anchor="ctr">
            <a:normAutofit/>
          </a:bodyPr>
          <a:lstStyle>
            <a:defPPr algn="ctr">
              <a:defRPr sz="1500" b="1">
                <a:solidFill>
                  <a:srgbClr val="A6462E"/>
                </a:solidFill>
                <a:latin typeface="Aptos"/>
                <a:ea typeface="Bitstream Charter"/>
                <a:cs typeface="Bitstream Charter"/>
              </a:defRPr>
            </a:defPPr>
          </a:lstStyle>
          <a:p>
            <a:pPr algn="ctr">
              <a:defRPr sz="1500" b="1">
                <a:solidFill>
                  <a:srgbClr val="A6462E"/>
                </a:solidFill>
                <a:latin typeface="Aptos"/>
                <a:ea typeface="Bitstream Charter"/>
                <a:cs typeface="Bitstream Charter"/>
              </a:defRPr>
            </a:pPr>
            <a:r>
              <a:rPr lang="en-US" sz="1500" b="1">
                <a:solidFill>
                  <a:srgbClr val="24211E"/>
                </a:solidFill>
                <a:latin typeface="Aptos"/>
                <a:ea typeface="Bitstream Charter"/>
                <a:cs typeface="Bitstream Charter"/>
              </a:rPr>
              <a:t>Conclusion: the MLP supported the nonlinear hypothesis; the LSTM did not add value without a real sequence.</a:t>
            </a:r>
          </a:p>
        </p:txBody>
      </p:sp>
      <p:sp>
        <p:nvSpPr>
          <p:cNvPr id="18" name="Rectangle 17">
            <a:extLst>
              <a:ext uri="{FF2B5EF4-FFF2-40B4-BE49-F238E27FC236}">
                <a16:creationId xmlns:a16="http://schemas.microsoft.com/office/drawing/2014/main" id="{B7758961-6C8A-41F4-9574-2C2CFDCA9308}"/>
              </a:ext>
            </a:extLst>
          </p:cNvPr>
          <p:cNvSpPr>
            <a:spLocks noGrp="1"/>
          </p:cNvSpPr>
          <p:nvPr/>
        </p:nvSpPr>
        <p:spPr>
          <a:xfrm>
            <a:off x="685800" y="6510528"/>
            <a:ext cx="6400800" cy="164592"/>
          </a:xfrm>
          <a:prstGeom prst="rect">
            <a:avLst/>
          </a:prstGeom>
          <a:noFill/>
          <a:ln w="0">
            <a:noFill/>
          </a:ln>
        </p:spPr>
        <p:txBody>
          <a:bodyPr wrap="square" anchor="ctr">
            <a:normAutofit fontScale="55000" lnSpcReduction="20000"/>
          </a:bodyPr>
          <a:lstStyle/>
          <a:p>
            <a:r>
              <a:rPr lang="en-US" sz="900">
                <a:solidFill>
                  <a:srgbClr val="6F6961"/>
                </a:solidFill>
                <a:latin typeface="Aptos"/>
              </a:rPr>
              <a:t>ANA500   Micro-Project 4   Valentin Diaconu</a:t>
            </a:r>
          </a:p>
        </p:txBody>
      </p:sp>
      <p:sp>
        <p:nvSpPr>
          <p:cNvPr id="19" name="Rectangle 18">
            <a:extLst>
              <a:ext uri="{FF2B5EF4-FFF2-40B4-BE49-F238E27FC236}">
                <a16:creationId xmlns:a16="http://schemas.microsoft.com/office/drawing/2014/main" id="{595BE55D-8C60-4A8A-8255-C895028B8CF5}"/>
              </a:ext>
            </a:extLst>
          </p:cNvPr>
          <p:cNvSpPr>
            <a:spLocks noGrp="1"/>
          </p:cNvSpPr>
          <p:nvPr/>
        </p:nvSpPr>
        <p:spPr>
          <a:xfrm>
            <a:off x="11018520" y="6492240"/>
            <a:ext cx="484632" cy="182880"/>
          </a:xfrm>
          <a:prstGeom prst="rect">
            <a:avLst/>
          </a:prstGeom>
          <a:noFill/>
          <a:ln w="0">
            <a:noFill/>
          </a:ln>
        </p:spPr>
        <p:txBody>
          <a:bodyPr wrap="square" anchor="ctr">
            <a:normAutofit fontScale="70000" lnSpcReduction="20000"/>
          </a:bodyPr>
          <a:lstStyle/>
          <a:p>
            <a:pPr algn="r"/>
            <a:r>
              <a:rPr lang="en-US" sz="980">
                <a:solidFill>
                  <a:srgbClr val="A6462E"/>
                </a:solidFill>
                <a:latin typeface="Aptos"/>
              </a:rPr>
              <a:t>9</a:t>
            </a:r>
          </a:p>
        </p:txBody>
      </p:sp>
      <p:sp>
        <p:nvSpPr>
          <p:cNvPr id="21" name="TextBox 13"/>
          <p:cNvSpPr txBox="1"/>
          <p:nvPr/>
        </p:nvSpPr>
        <p:spPr>
          <a:xfrm>
            <a:off x="11082528" y="429768"/>
            <a:ext cx="411480" cy="201168"/>
          </a:xfrm>
          <a:prstGeom prst="rect">
            <a:avLst/>
          </a:prstGeom>
          <a:noFill/>
        </p:spPr>
        <p:txBody>
          <a:bodyPr wrap="square" lIns="0" tIns="0" rIns="0" bIns="0" anchor="ctr">
            <a:spAutoFit/>
          </a:bodyPr>
          <a:lstStyle/>
          <a:p>
            <a:pPr algn="r"/>
            <a:r>
              <a:rPr sz="1050" b="0">
                <a:solidFill>
                  <a:srgbClr val="6F6961"/>
                </a:solidFill>
                <a:latin typeface="Aptos"/>
              </a:rPr>
              <a:t>09</a:t>
            </a:r>
          </a:p>
        </p:txBody>
      </p:sp>
      <p:sp>
        <p:nvSpPr>
          <p:cNvPr id="22" name="Rectangle 14"/>
          <p:cNvSpPr/>
          <p:nvPr/>
        </p:nvSpPr>
        <p:spPr>
          <a:xfrm>
            <a:off x="685800" y="1435608"/>
            <a:ext cx="10817352" cy="10972"/>
          </a:xfrm>
          <a:prstGeom prst="rect">
            <a:avLst/>
          </a:prstGeom>
          <a:solidFill>
            <a:srgbClr val="CFC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15"/>
          <p:cNvSpPr/>
          <p:nvPr/>
        </p:nvSpPr>
        <p:spPr>
          <a:xfrm>
            <a:off x="685800" y="6419088"/>
            <a:ext cx="10817352" cy="10972"/>
          </a:xfrm>
          <a:prstGeom prst="rect">
            <a:avLst/>
          </a:prstGeom>
          <a:solidFill>
            <a:srgbClr val="CFC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032721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0E7"/>
        </a:solidFill>
        <a:effectLst/>
      </p:bgPr>
    </p:bg>
    <p:spTree>
      <p:nvGrpSpPr>
        <p:cNvPr id="1" name=""/>
        <p:cNvGrpSpPr/>
        <p:nvPr/>
      </p:nvGrpSpPr>
      <p:grpSpPr>
        <a:xfrm>
          <a:off x="0" y="0"/>
          <a:ext cx="0" cy="0"/>
          <a:chOff x="0" y="0"/>
          <a:chExt cx="0" cy="0"/>
        </a:xfrm>
      </p:grpSpPr>
      <p:sp>
        <p:nvSpPr>
          <p:cNvPr id="16" name="Matched column background 16">
            <a:extLst>
              <a:ext uri="{FF2B5EF4-FFF2-40B4-BE49-F238E27FC236}">
                <a16:creationId xmlns:a16="http://schemas.microsoft.com/office/drawing/2014/main" id="{33FCF4A5-4EFB-4CFF-9C76-5A37A15024D0}"/>
              </a:ext>
            </a:extLst>
          </p:cNvPr>
          <p:cNvSpPr>
            <a:spLocks noGrp="1"/>
          </p:cNvSpPr>
          <p:nvPr/>
        </p:nvSpPr>
        <p:spPr>
          <a:xfrm>
            <a:off x="6115050" y="1807882"/>
            <a:ext cx="5486400" cy="3800475"/>
          </a:xfrm>
          <a:prstGeom prst="roundRect">
            <a:avLst>
              <a:gd name="adj" fmla="val 1980"/>
            </a:avLst>
          </a:prstGeom>
          <a:solidFill>
            <a:srgbClr val="F1E2D7"/>
          </a:solidFill>
          <a:ln w="0">
            <a:noFill/>
          </a:ln>
        </p:spPr>
        <p:txBody>
          <a:bodyPr wrap="square"/>
          <a:lstStyle/>
          <a:p>
            <a:endParaRPr lang="en-US"/>
          </a:p>
        </p:txBody>
      </p:sp>
      <p:sp>
        <p:nvSpPr>
          <p:cNvPr id="15" name="Matched column background 15">
            <a:extLst>
              <a:ext uri="{FF2B5EF4-FFF2-40B4-BE49-F238E27FC236}">
                <a16:creationId xmlns:a16="http://schemas.microsoft.com/office/drawing/2014/main" id="{9E6CA2CC-3C2A-4F66-941B-92A5FB191335}"/>
              </a:ext>
            </a:extLst>
          </p:cNvPr>
          <p:cNvSpPr>
            <a:spLocks noGrp="1"/>
          </p:cNvSpPr>
          <p:nvPr/>
        </p:nvSpPr>
        <p:spPr>
          <a:xfrm>
            <a:off x="590550" y="1807882"/>
            <a:ext cx="5143500" cy="3800475"/>
          </a:xfrm>
          <a:prstGeom prst="roundRect">
            <a:avLst>
              <a:gd name="adj" fmla="val 1980"/>
            </a:avLst>
          </a:prstGeom>
          <a:solidFill>
            <a:srgbClr val="E7DFD2"/>
          </a:solidFill>
          <a:ln w="0">
            <a:noFill/>
          </a:ln>
        </p:spPr>
        <p:txBody>
          <a:bodyPr wrap="square"/>
          <a:lstStyle/>
          <a:p>
            <a:endParaRPr lang="en-US"/>
          </a:p>
        </p:txBody>
      </p:sp>
      <p:sp>
        <p:nvSpPr>
          <p:cNvPr id="14" name="Rectangle 13">
            <a:extLst>
              <a:ext uri="{FF2B5EF4-FFF2-40B4-BE49-F238E27FC236}">
                <a16:creationId xmlns:a16="http://schemas.microsoft.com/office/drawing/2014/main" id="{2C7A3F7E-BF42-4F04-B667-7C1BF2D533AB}"/>
              </a:ext>
            </a:extLst>
          </p:cNvPr>
          <p:cNvSpPr>
            <a:spLocks noGrp="1"/>
          </p:cNvSpPr>
          <p:nvPr/>
        </p:nvSpPr>
        <p:spPr>
          <a:xfrm>
            <a:off x="0" y="0"/>
            <a:ext cx="12192000" cy="876300"/>
          </a:xfrm>
          <a:prstGeom prst="rect">
            <a:avLst/>
          </a:prstGeom>
          <a:solidFill>
            <a:srgbClr val="F5F0E7"/>
          </a:solidFill>
          <a:ln w="0">
            <a:noFill/>
          </a:ln>
        </p:spPr>
        <p:txBody>
          <a:bodyPr/>
          <a:lstStyle/>
          <a:p>
            <a:endParaRPr lang="en-US"/>
          </a:p>
        </p:txBody>
      </p:sp>
      <p:sp>
        <p:nvSpPr>
          <p:cNvPr id="2" name="Rectangle 1">
            <a:extLst>
              <a:ext uri="{FF2B5EF4-FFF2-40B4-BE49-F238E27FC236}">
                <a16:creationId xmlns:a16="http://schemas.microsoft.com/office/drawing/2014/main" id="{B778C4EC-7F73-4346-9DD5-20660A2480FE}"/>
              </a:ext>
            </a:extLst>
          </p:cNvPr>
          <p:cNvSpPr>
            <a:spLocks noGrp="1"/>
          </p:cNvSpPr>
          <p:nvPr/>
        </p:nvSpPr>
        <p:spPr>
          <a:xfrm>
            <a:off x="685800" y="722376"/>
            <a:ext cx="10058400" cy="585216"/>
          </a:xfrm>
          <a:prstGeom prst="rect">
            <a:avLst/>
          </a:prstGeom>
          <a:noFill/>
          <a:ln w="0">
            <a:noFill/>
          </a:ln>
        </p:spPr>
        <p:txBody>
          <a:bodyPr wrap="square" anchor="ctr">
            <a:normAutofit lnSpcReduction="10000"/>
          </a:bodyPr>
          <a:lstStyle/>
          <a:p>
            <a:pPr algn="l">
              <a:defRPr sz="2550" b="1">
                <a:solidFill>
                  <a:srgbClr val="FFFFFF"/>
                </a:solidFill>
                <a:latin typeface="Bitstream Charter"/>
                <a:ea typeface="Bitstream Charter"/>
                <a:cs typeface="Bitstream Charter"/>
              </a:defRPr>
            </a:pPr>
            <a:r>
              <a:rPr lang="en-US" sz="3300" b="1">
                <a:solidFill>
                  <a:srgbClr val="24211E"/>
                </a:solidFill>
                <a:latin typeface="Georgia"/>
                <a:ea typeface="Bitstream Charter"/>
                <a:cs typeface="Bitstream Charter"/>
              </a:rPr>
              <a:t>AI Use Disclosure and References</a:t>
            </a:r>
          </a:p>
        </p:txBody>
      </p:sp>
      <p:sp>
        <p:nvSpPr>
          <p:cNvPr id="3" name="Rectangle 2">
            <a:extLst>
              <a:ext uri="{FF2B5EF4-FFF2-40B4-BE49-F238E27FC236}">
                <a16:creationId xmlns:a16="http://schemas.microsoft.com/office/drawing/2014/main" id="{00854AA1-2DA0-4CE5-A4F8-45F22AF7F633}"/>
              </a:ext>
            </a:extLst>
          </p:cNvPr>
          <p:cNvSpPr>
            <a:spLocks noGrp="1"/>
          </p:cNvSpPr>
          <p:nvPr/>
        </p:nvSpPr>
        <p:spPr>
          <a:xfrm>
            <a:off x="685800" y="402336"/>
            <a:ext cx="3474720" cy="219456"/>
          </a:xfrm>
          <a:prstGeom prst="rect">
            <a:avLst/>
          </a:prstGeom>
          <a:noFill/>
          <a:ln w="0">
            <a:noFill/>
          </a:ln>
        </p:spPr>
        <p:txBody>
          <a:bodyPr wrap="square" anchor="ctr">
            <a:normAutofit fontScale="62500" lnSpcReduction="20000"/>
          </a:bodyPr>
          <a:lstStyle/>
          <a:p>
            <a:r>
              <a:rPr lang="en-US" sz="1650" b="1">
                <a:solidFill>
                  <a:srgbClr val="A6462E"/>
                </a:solidFill>
                <a:latin typeface="Aptos"/>
              </a:rPr>
              <a:t>COMPLIANCE</a:t>
            </a:r>
          </a:p>
        </p:txBody>
      </p:sp>
      <p:sp>
        <p:nvSpPr>
          <p:cNvPr id="4" name="Rectangle 3">
            <a:extLst>
              <a:ext uri="{FF2B5EF4-FFF2-40B4-BE49-F238E27FC236}">
                <a16:creationId xmlns:a16="http://schemas.microsoft.com/office/drawing/2014/main" id="{63A391DC-404B-4D7D-9119-014FE34BA275}"/>
              </a:ext>
            </a:extLst>
          </p:cNvPr>
          <p:cNvSpPr>
            <a:spLocks noGrp="1"/>
          </p:cNvSpPr>
          <p:nvPr/>
        </p:nvSpPr>
        <p:spPr>
          <a:xfrm>
            <a:off x="877824" y="2043912"/>
            <a:ext cx="4572000" cy="336042"/>
          </a:xfrm>
          <a:prstGeom prst="rect">
            <a:avLst/>
          </a:prstGeom>
          <a:noFill/>
          <a:ln w="0">
            <a:noFill/>
          </a:ln>
        </p:spPr>
        <p:txBody>
          <a:bodyPr wrap="square" anchor="ctr">
            <a:normAutofit fontScale="87167" lnSpcReduction="10000"/>
          </a:bodyPr>
          <a:lstStyle>
            <a:defPPr algn="l">
              <a:defRPr sz="1875" b="1">
                <a:solidFill>
                  <a:srgbClr val="24211E"/>
                </a:solidFill>
                <a:latin typeface="Aptos"/>
                <a:ea typeface="Bitstream Charter"/>
                <a:cs typeface="Bitstream Charter"/>
              </a:defRPr>
            </a:defPPr>
          </a:lstStyle>
          <a:p>
            <a:pPr algn="l">
              <a:defRPr sz="1875" b="1">
                <a:solidFill>
                  <a:srgbClr val="24211E"/>
                </a:solidFill>
                <a:latin typeface="Aptos"/>
                <a:ea typeface="Bitstream Charter"/>
                <a:cs typeface="Bitstream Charter"/>
              </a:defRPr>
            </a:pPr>
            <a:r>
              <a:rPr lang="en-US" sz="1950" b="1">
                <a:solidFill>
                  <a:srgbClr val="24211E"/>
                </a:solidFill>
                <a:latin typeface="Aptos"/>
                <a:ea typeface="Bitstream Charter"/>
                <a:cs typeface="Bitstream Charter"/>
              </a:rPr>
              <a:t>AI use disclosure</a:t>
            </a:r>
          </a:p>
        </p:txBody>
      </p:sp>
      <p:sp>
        <p:nvSpPr>
          <p:cNvPr id="5" name="Rectangle 4">
            <a:extLst>
              <a:ext uri="{FF2B5EF4-FFF2-40B4-BE49-F238E27FC236}">
                <a16:creationId xmlns:a16="http://schemas.microsoft.com/office/drawing/2014/main" id="{AA7A39CB-BD2E-4A3F-9435-63E3E5C87657}"/>
              </a:ext>
            </a:extLst>
          </p:cNvPr>
          <p:cNvSpPr>
            <a:spLocks noGrp="1"/>
          </p:cNvSpPr>
          <p:nvPr/>
        </p:nvSpPr>
        <p:spPr>
          <a:xfrm>
            <a:off x="896112" y="2539974"/>
            <a:ext cx="4553712" cy="600075"/>
          </a:xfrm>
          <a:prstGeom prst="rect">
            <a:avLst/>
          </a:prstGeom>
          <a:noFill/>
          <a:ln w="0">
            <a:noFill/>
          </a:ln>
        </p:spPr>
        <p:txBody>
          <a:bodyPr wrap="square" anchor="ctr">
            <a:normAutofit/>
          </a:bodyPr>
          <a:lstStyle>
            <a:defPPr algn="l">
              <a:defRPr sz="1425" b="0">
                <a:solidFill>
                  <a:srgbClr val="24211E"/>
                </a:solidFill>
                <a:latin typeface="Aptos"/>
                <a:ea typeface="Bitstream Charter"/>
                <a:cs typeface="Bitstream Charter"/>
              </a:defRPr>
            </a:defPPr>
          </a:lstStyle>
          <a:p>
            <a:pPr algn="l">
              <a:defRPr sz="1425" b="0">
                <a:solidFill>
                  <a:srgbClr val="24211E"/>
                </a:solidFill>
                <a:latin typeface="Aptos"/>
                <a:ea typeface="Bitstream Charter"/>
                <a:cs typeface="Bitstream Charter"/>
              </a:defRPr>
            </a:pPr>
            <a:r>
              <a:rPr lang="en-US" sz="1500" b="0">
                <a:solidFill>
                  <a:srgbClr val="24211E"/>
                </a:solidFill>
                <a:latin typeface="Aptos"/>
                <a:ea typeface="Bitstream Charter"/>
                <a:cs typeface="Bitstream Charter"/>
              </a:rPr>
              <a:t>• OpenAI ChatGPT assisted with planning, code drafting, debugging, and phrasing.</a:t>
            </a:r>
          </a:p>
        </p:txBody>
      </p:sp>
      <p:sp>
        <p:nvSpPr>
          <p:cNvPr id="6" name="Rectangle 5">
            <a:extLst>
              <a:ext uri="{FF2B5EF4-FFF2-40B4-BE49-F238E27FC236}">
                <a16:creationId xmlns:a16="http://schemas.microsoft.com/office/drawing/2014/main" id="{6E044C76-4350-4F94-B45C-763983616C62}"/>
              </a:ext>
            </a:extLst>
          </p:cNvPr>
          <p:cNvSpPr>
            <a:spLocks noGrp="1"/>
          </p:cNvSpPr>
          <p:nvPr/>
        </p:nvSpPr>
        <p:spPr>
          <a:xfrm>
            <a:off x="896112" y="3204057"/>
            <a:ext cx="4553712" cy="600075"/>
          </a:xfrm>
          <a:prstGeom prst="rect">
            <a:avLst/>
          </a:prstGeom>
          <a:noFill/>
          <a:ln w="0">
            <a:noFill/>
          </a:ln>
        </p:spPr>
        <p:txBody>
          <a:bodyPr wrap="square" anchor="ctr">
            <a:normAutofit/>
          </a:bodyPr>
          <a:lstStyle>
            <a:defPPr algn="l">
              <a:defRPr sz="1425" b="0">
                <a:solidFill>
                  <a:srgbClr val="24211E"/>
                </a:solidFill>
                <a:latin typeface="Aptos"/>
                <a:ea typeface="Bitstream Charter"/>
                <a:cs typeface="Bitstream Charter"/>
              </a:defRPr>
            </a:defPPr>
          </a:lstStyle>
          <a:p>
            <a:pPr algn="l">
              <a:defRPr sz="1425" b="0">
                <a:solidFill>
                  <a:srgbClr val="24211E"/>
                </a:solidFill>
                <a:latin typeface="Aptos"/>
                <a:ea typeface="Bitstream Charter"/>
                <a:cs typeface="Bitstream Charter"/>
              </a:defRPr>
            </a:pPr>
            <a:r>
              <a:rPr lang="en-US" sz="1500" b="0">
                <a:solidFill>
                  <a:srgbClr val="24211E"/>
                </a:solidFill>
                <a:latin typeface="Aptos"/>
                <a:ea typeface="Bitstream Charter"/>
                <a:cs typeface="Bitstream Charter"/>
              </a:rPr>
              <a:t>• The author reviewed and executed the code and remains responsible for accuracy.</a:t>
            </a:r>
          </a:p>
        </p:txBody>
      </p:sp>
      <p:sp>
        <p:nvSpPr>
          <p:cNvPr id="7" name="Rectangle 6">
            <a:extLst>
              <a:ext uri="{FF2B5EF4-FFF2-40B4-BE49-F238E27FC236}">
                <a16:creationId xmlns:a16="http://schemas.microsoft.com/office/drawing/2014/main" id="{571F76BA-5801-4905-80BE-FE54BB5CB20F}"/>
              </a:ext>
            </a:extLst>
          </p:cNvPr>
          <p:cNvSpPr>
            <a:spLocks noGrp="1"/>
          </p:cNvSpPr>
          <p:nvPr/>
        </p:nvSpPr>
        <p:spPr>
          <a:xfrm>
            <a:off x="896112" y="3868140"/>
            <a:ext cx="4553712" cy="600075"/>
          </a:xfrm>
          <a:prstGeom prst="rect">
            <a:avLst/>
          </a:prstGeom>
          <a:noFill/>
          <a:ln w="0">
            <a:noFill/>
          </a:ln>
        </p:spPr>
        <p:txBody>
          <a:bodyPr wrap="square" anchor="ctr">
            <a:normAutofit/>
          </a:bodyPr>
          <a:lstStyle>
            <a:defPPr algn="l">
              <a:defRPr sz="1425" b="0">
                <a:solidFill>
                  <a:srgbClr val="24211E"/>
                </a:solidFill>
                <a:latin typeface="Aptos"/>
                <a:ea typeface="Bitstream Charter"/>
                <a:cs typeface="Bitstream Charter"/>
              </a:defRPr>
            </a:defPPr>
          </a:lstStyle>
          <a:p>
            <a:pPr algn="l">
              <a:defRPr sz="1425" b="0">
                <a:solidFill>
                  <a:srgbClr val="24211E"/>
                </a:solidFill>
                <a:latin typeface="Aptos"/>
                <a:ea typeface="Bitstream Charter"/>
                <a:cs typeface="Bitstream Charter"/>
              </a:defRPr>
            </a:pPr>
            <a:r>
              <a:rPr lang="en-US" sz="1500" b="0">
                <a:solidFill>
                  <a:srgbClr val="24211E"/>
                </a:solidFill>
                <a:latin typeface="Aptos"/>
                <a:ea typeface="Bitstream Charter"/>
                <a:cs typeface="Bitstream Charter"/>
              </a:rPr>
              <a:t>• All values and charts come from the executed Adult Income analysis.</a:t>
            </a:r>
          </a:p>
        </p:txBody>
      </p:sp>
      <p:sp>
        <p:nvSpPr>
          <p:cNvPr id="8" name="Rectangle 7">
            <a:extLst>
              <a:ext uri="{FF2B5EF4-FFF2-40B4-BE49-F238E27FC236}">
                <a16:creationId xmlns:a16="http://schemas.microsoft.com/office/drawing/2014/main" id="{3C19A70E-EC48-41A5-8502-E2BEEC96BDDC}"/>
              </a:ext>
            </a:extLst>
          </p:cNvPr>
          <p:cNvSpPr>
            <a:spLocks noGrp="1"/>
          </p:cNvSpPr>
          <p:nvPr/>
        </p:nvSpPr>
        <p:spPr>
          <a:xfrm>
            <a:off x="896112" y="4532223"/>
            <a:ext cx="4553712" cy="600075"/>
          </a:xfrm>
          <a:prstGeom prst="rect">
            <a:avLst/>
          </a:prstGeom>
          <a:noFill/>
          <a:ln w="0">
            <a:noFill/>
          </a:ln>
        </p:spPr>
        <p:txBody>
          <a:bodyPr wrap="square" anchor="ctr">
            <a:normAutofit/>
          </a:bodyPr>
          <a:lstStyle>
            <a:defPPr algn="l">
              <a:defRPr sz="1425" b="0">
                <a:solidFill>
                  <a:srgbClr val="24211E"/>
                </a:solidFill>
                <a:latin typeface="Aptos"/>
                <a:ea typeface="Bitstream Charter"/>
                <a:cs typeface="Bitstream Charter"/>
              </a:defRPr>
            </a:defPPr>
          </a:lstStyle>
          <a:p>
            <a:pPr algn="l">
              <a:defRPr sz="1425" b="0">
                <a:solidFill>
                  <a:srgbClr val="24211E"/>
                </a:solidFill>
                <a:latin typeface="Aptos"/>
                <a:ea typeface="Bitstream Charter"/>
                <a:cs typeface="Bitstream Charter"/>
              </a:defRPr>
            </a:pPr>
            <a:r>
              <a:rPr lang="en-US" sz="1500" b="0">
                <a:solidFill>
                  <a:srgbClr val="24211E"/>
                </a:solidFill>
                <a:latin typeface="Aptos"/>
                <a:ea typeface="Bitstream Charter"/>
                <a:cs typeface="Bitstream Charter"/>
              </a:rPr>
              <a:t>• The methodological limitation of the LSTM is disclosed throughout.</a:t>
            </a:r>
          </a:p>
        </p:txBody>
      </p:sp>
      <p:sp>
        <p:nvSpPr>
          <p:cNvPr id="9" name="Rectangle 8">
            <a:extLst>
              <a:ext uri="{FF2B5EF4-FFF2-40B4-BE49-F238E27FC236}">
                <a16:creationId xmlns:a16="http://schemas.microsoft.com/office/drawing/2014/main" id="{AB61ADC2-47C1-4AD1-BC53-276DAC7E330E}"/>
              </a:ext>
            </a:extLst>
          </p:cNvPr>
          <p:cNvSpPr>
            <a:spLocks noGrp="1"/>
          </p:cNvSpPr>
          <p:nvPr/>
        </p:nvSpPr>
        <p:spPr>
          <a:xfrm>
            <a:off x="6400800" y="2043912"/>
            <a:ext cx="4919472" cy="336042"/>
          </a:xfrm>
          <a:prstGeom prst="rect">
            <a:avLst/>
          </a:prstGeom>
          <a:noFill/>
          <a:ln w="0">
            <a:noFill/>
          </a:ln>
        </p:spPr>
        <p:txBody>
          <a:bodyPr wrap="square" anchor="ctr">
            <a:normAutofit fontScale="87167" lnSpcReduction="10000"/>
          </a:bodyPr>
          <a:lstStyle>
            <a:defPPr algn="l">
              <a:defRPr sz="1875" b="1">
                <a:solidFill>
                  <a:srgbClr val="A6462E"/>
                </a:solidFill>
                <a:latin typeface="Aptos"/>
                <a:ea typeface="Bitstream Charter"/>
                <a:cs typeface="Bitstream Charter"/>
              </a:defRPr>
            </a:defPPr>
          </a:lstStyle>
          <a:p>
            <a:pPr algn="l">
              <a:defRPr sz="1875" b="1">
                <a:solidFill>
                  <a:srgbClr val="A6462E"/>
                </a:solidFill>
                <a:latin typeface="Aptos"/>
                <a:ea typeface="Bitstream Charter"/>
                <a:cs typeface="Bitstream Charter"/>
              </a:defRPr>
            </a:pPr>
            <a:r>
              <a:rPr lang="en-US" sz="1950" b="1">
                <a:solidFill>
                  <a:srgbClr val="A6462E"/>
                </a:solidFill>
                <a:latin typeface="Aptos"/>
                <a:ea typeface="Bitstream Charter"/>
                <a:cs typeface="Bitstream Charter"/>
              </a:rPr>
              <a:t>References</a:t>
            </a:r>
          </a:p>
        </p:txBody>
      </p:sp>
      <p:sp>
        <p:nvSpPr>
          <p:cNvPr id="10" name="Rectangle 9">
            <a:extLst>
              <a:ext uri="{FF2B5EF4-FFF2-40B4-BE49-F238E27FC236}">
                <a16:creationId xmlns:a16="http://schemas.microsoft.com/office/drawing/2014/main" id="{F17EE67F-B883-4258-A958-1BD4B496EE41}"/>
              </a:ext>
            </a:extLst>
          </p:cNvPr>
          <p:cNvSpPr>
            <a:spLocks noGrp="1"/>
          </p:cNvSpPr>
          <p:nvPr/>
        </p:nvSpPr>
        <p:spPr>
          <a:xfrm>
            <a:off x="6419088" y="2539974"/>
            <a:ext cx="4663440" cy="2520315"/>
          </a:xfrm>
          <a:prstGeom prst="rect">
            <a:avLst/>
          </a:prstGeom>
          <a:noFill/>
          <a:ln w="0">
            <a:noFill/>
          </a:ln>
        </p:spPr>
        <p:txBody>
          <a:bodyPr wrap="square" anchor="t">
            <a:normAutofit/>
          </a:bodyPr>
          <a:lstStyle>
            <a:defPPr algn="l">
              <a:defRPr sz="1350" b="0">
                <a:solidFill>
                  <a:srgbClr val="24211E"/>
                </a:solidFill>
                <a:latin typeface="Aptos"/>
                <a:ea typeface="Bitstream Charter"/>
                <a:cs typeface="Bitstream Charter"/>
              </a:defRPr>
            </a:defPPr>
          </a:lstStyle>
          <a:p>
            <a:pPr algn="l">
              <a:defRPr sz="1350" b="0">
                <a:solidFill>
                  <a:srgbClr val="24211E"/>
                </a:solidFill>
                <a:latin typeface="Aptos"/>
                <a:ea typeface="Bitstream Charter"/>
                <a:cs typeface="Bitstream Charter"/>
              </a:defRPr>
            </a:pPr>
            <a:r>
              <a:rPr lang="en-US" sz="1425" b="0">
                <a:solidFill>
                  <a:srgbClr val="24211E"/>
                </a:solidFill>
                <a:latin typeface="Aptos"/>
                <a:ea typeface="Bitstream Charter"/>
                <a:cs typeface="Bitstream Charter"/>
              </a:rPr>
              <a:t>Becker, B., &amp; Kohavi, R. (1996). Adult [Dataset]. UCI Machine Learning Repository.</a:t>
            </a:r>
          </a:p>
          <a:p>
            <a:endParaRPr lang="en-US" sz="1350" b="0">
              <a:solidFill>
                <a:srgbClr val="24211E"/>
              </a:solidFill>
              <a:latin typeface="Aptos"/>
              <a:ea typeface="Bitstream Charter"/>
              <a:cs typeface="Bitstream Charter"/>
            </a:endParaRPr>
          </a:p>
          <a:p>
            <a:pPr algn="l">
              <a:defRPr sz="1350" b="0">
                <a:solidFill>
                  <a:srgbClr val="24211E"/>
                </a:solidFill>
                <a:latin typeface="Aptos"/>
                <a:ea typeface="Bitstream Charter"/>
                <a:cs typeface="Bitstream Charter"/>
              </a:defRPr>
            </a:pPr>
            <a:r>
              <a:rPr lang="en-US" sz="1425" b="0">
                <a:solidFill>
                  <a:srgbClr val="24211E"/>
                </a:solidFill>
                <a:latin typeface="Aptos"/>
                <a:ea typeface="Bitstream Charter"/>
                <a:cs typeface="Bitstream Charter"/>
              </a:rPr>
              <a:t>National University. (2026). ANA500 Module 4: Neural Network Modeling with Python.</a:t>
            </a:r>
          </a:p>
          <a:p>
            <a:endParaRPr lang="en-US" sz="1350" b="0">
              <a:solidFill>
                <a:srgbClr val="24211E"/>
              </a:solidFill>
              <a:latin typeface="Aptos"/>
              <a:ea typeface="Bitstream Charter"/>
              <a:cs typeface="Bitstream Charter"/>
            </a:endParaRPr>
          </a:p>
          <a:p>
            <a:pPr algn="l">
              <a:defRPr sz="1350" b="0">
                <a:solidFill>
                  <a:srgbClr val="24211E"/>
                </a:solidFill>
                <a:latin typeface="Aptos"/>
                <a:ea typeface="Bitstream Charter"/>
                <a:cs typeface="Bitstream Charter"/>
              </a:defRPr>
            </a:pPr>
            <a:r>
              <a:rPr lang="en-US" sz="1425" b="0">
                <a:solidFill>
                  <a:srgbClr val="24211E"/>
                </a:solidFill>
                <a:latin typeface="Aptos"/>
                <a:ea typeface="Bitstream Charter"/>
                <a:cs typeface="Bitstream Charter"/>
              </a:rPr>
              <a:t>OpenAI. (2026). ChatGPT [Large language model].</a:t>
            </a:r>
          </a:p>
          <a:p>
            <a:endParaRPr lang="en-US" sz="1350" b="0">
              <a:solidFill>
                <a:srgbClr val="24211E"/>
              </a:solidFill>
              <a:latin typeface="Aptos"/>
              <a:ea typeface="Bitstream Charter"/>
              <a:cs typeface="Bitstream Charter"/>
            </a:endParaRPr>
          </a:p>
          <a:p>
            <a:pPr algn="l">
              <a:defRPr sz="1350" b="0">
                <a:solidFill>
                  <a:srgbClr val="24211E"/>
                </a:solidFill>
                <a:latin typeface="Aptos"/>
                <a:ea typeface="Bitstream Charter"/>
                <a:cs typeface="Bitstream Charter"/>
              </a:defRPr>
            </a:pPr>
            <a:r>
              <a:rPr lang="en-US" sz="1425" b="0">
                <a:solidFill>
                  <a:srgbClr val="24211E"/>
                </a:solidFill>
                <a:latin typeface="Aptos"/>
                <a:ea typeface="Bitstream Charter"/>
                <a:cs typeface="Bitstream Charter"/>
              </a:rPr>
              <a:t>TensorFlow Developers. (2026). TensorFlow and Keras documentation.</a:t>
            </a:r>
          </a:p>
        </p:txBody>
      </p:sp>
      <p:sp>
        <p:nvSpPr>
          <p:cNvPr id="11" name="Rectangle 10">
            <a:extLst>
              <a:ext uri="{FF2B5EF4-FFF2-40B4-BE49-F238E27FC236}">
                <a16:creationId xmlns:a16="http://schemas.microsoft.com/office/drawing/2014/main" id="{0F2DCF96-3E90-42F8-AD12-156AA218E0C8}"/>
              </a:ext>
            </a:extLst>
          </p:cNvPr>
          <p:cNvSpPr>
            <a:spLocks noGrp="1"/>
          </p:cNvSpPr>
          <p:nvPr/>
        </p:nvSpPr>
        <p:spPr>
          <a:xfrm>
            <a:off x="6419088" y="5124297"/>
            <a:ext cx="4663440" cy="320040"/>
          </a:xfrm>
          <a:prstGeom prst="rect">
            <a:avLst/>
          </a:prstGeom>
          <a:noFill/>
          <a:ln w="0">
            <a:noFill/>
          </a:ln>
        </p:spPr>
        <p:txBody>
          <a:bodyPr wrap="square" anchor="ctr">
            <a:normAutofit/>
          </a:bodyPr>
          <a:lstStyle>
            <a:defPPr algn="l">
              <a:defRPr sz="1350" b="1">
                <a:solidFill>
                  <a:srgbClr val="6F6961"/>
                </a:solidFill>
                <a:latin typeface="Aptos"/>
                <a:ea typeface="Bitstream Charter"/>
                <a:cs typeface="Bitstream Charter"/>
              </a:defRPr>
            </a:defPPr>
          </a:lstStyle>
          <a:p>
            <a:pPr algn="l">
              <a:defRPr sz="1350" b="1">
                <a:solidFill>
                  <a:srgbClr val="6F6961"/>
                </a:solidFill>
                <a:latin typeface="Aptos"/>
                <a:ea typeface="Bitstream Charter"/>
                <a:cs typeface="Bitstream Charter"/>
              </a:defRPr>
            </a:pPr>
            <a:r>
              <a:rPr lang="en-US" sz="1350" b="1">
                <a:solidFill>
                  <a:srgbClr val="6F6961"/>
                </a:solidFill>
                <a:latin typeface="Aptos"/>
                <a:ea typeface="Bitstream Charter"/>
                <a:cs typeface="Bitstream Charter"/>
              </a:rPr>
              <a:t>Repository link: add after GitHub upload</a:t>
            </a:r>
          </a:p>
        </p:txBody>
      </p:sp>
      <p:sp>
        <p:nvSpPr>
          <p:cNvPr id="12" name="Rectangle 11">
            <a:extLst>
              <a:ext uri="{FF2B5EF4-FFF2-40B4-BE49-F238E27FC236}">
                <a16:creationId xmlns:a16="http://schemas.microsoft.com/office/drawing/2014/main" id="{F6F75182-B537-4BB0-841B-A24D7382A4C5}"/>
              </a:ext>
            </a:extLst>
          </p:cNvPr>
          <p:cNvSpPr>
            <a:spLocks noGrp="1"/>
          </p:cNvSpPr>
          <p:nvPr/>
        </p:nvSpPr>
        <p:spPr>
          <a:xfrm>
            <a:off x="685800" y="6510528"/>
            <a:ext cx="6400800" cy="164592"/>
          </a:xfrm>
          <a:prstGeom prst="rect">
            <a:avLst/>
          </a:prstGeom>
          <a:noFill/>
          <a:ln w="0">
            <a:noFill/>
          </a:ln>
        </p:spPr>
        <p:txBody>
          <a:bodyPr wrap="square" anchor="ctr">
            <a:normAutofit fontScale="55000" lnSpcReduction="20000"/>
          </a:bodyPr>
          <a:lstStyle/>
          <a:p>
            <a:r>
              <a:rPr lang="en-US" sz="900">
                <a:solidFill>
                  <a:srgbClr val="6F6961"/>
                </a:solidFill>
                <a:latin typeface="Aptos"/>
              </a:rPr>
              <a:t>ANA500   Micro-Project 4   Valentin Diaconu</a:t>
            </a:r>
          </a:p>
        </p:txBody>
      </p:sp>
      <p:sp>
        <p:nvSpPr>
          <p:cNvPr id="13" name="Rectangle 12">
            <a:extLst>
              <a:ext uri="{FF2B5EF4-FFF2-40B4-BE49-F238E27FC236}">
                <a16:creationId xmlns:a16="http://schemas.microsoft.com/office/drawing/2014/main" id="{08E528DA-13C4-4874-AE9C-F5555ED35C51}"/>
              </a:ext>
            </a:extLst>
          </p:cNvPr>
          <p:cNvSpPr>
            <a:spLocks noGrp="1"/>
          </p:cNvSpPr>
          <p:nvPr/>
        </p:nvSpPr>
        <p:spPr>
          <a:xfrm>
            <a:off x="11018520" y="6492240"/>
            <a:ext cx="484632" cy="182880"/>
          </a:xfrm>
          <a:prstGeom prst="rect">
            <a:avLst/>
          </a:prstGeom>
          <a:noFill/>
          <a:ln w="0">
            <a:noFill/>
          </a:ln>
        </p:spPr>
        <p:txBody>
          <a:bodyPr wrap="square" anchor="ctr">
            <a:normAutofit fontScale="70000" lnSpcReduction="20000"/>
          </a:bodyPr>
          <a:lstStyle/>
          <a:p>
            <a:pPr algn="r"/>
            <a:r>
              <a:rPr lang="en-US" sz="980">
                <a:solidFill>
                  <a:srgbClr val="A6462E"/>
                </a:solidFill>
                <a:latin typeface="Aptos"/>
              </a:rPr>
              <a:t>10</a:t>
            </a:r>
          </a:p>
        </p:txBody>
      </p:sp>
      <p:sp>
        <p:nvSpPr>
          <p:cNvPr id="17" name="TextBox 13"/>
          <p:cNvSpPr txBox="1"/>
          <p:nvPr/>
        </p:nvSpPr>
        <p:spPr>
          <a:xfrm>
            <a:off x="11082528" y="429768"/>
            <a:ext cx="411480" cy="201168"/>
          </a:xfrm>
          <a:prstGeom prst="rect">
            <a:avLst/>
          </a:prstGeom>
          <a:noFill/>
        </p:spPr>
        <p:txBody>
          <a:bodyPr wrap="square" lIns="0" tIns="0" rIns="0" bIns="0" anchor="ctr">
            <a:spAutoFit/>
          </a:bodyPr>
          <a:lstStyle/>
          <a:p>
            <a:pPr algn="r"/>
            <a:r>
              <a:rPr sz="1050" b="0">
                <a:solidFill>
                  <a:srgbClr val="6F6961"/>
                </a:solidFill>
                <a:latin typeface="Aptos"/>
              </a:rPr>
              <a:t>10</a:t>
            </a:r>
          </a:p>
        </p:txBody>
      </p:sp>
      <p:sp>
        <p:nvSpPr>
          <p:cNvPr id="18" name="Rectangle 14"/>
          <p:cNvSpPr/>
          <p:nvPr/>
        </p:nvSpPr>
        <p:spPr>
          <a:xfrm>
            <a:off x="685800" y="1435608"/>
            <a:ext cx="10817352" cy="10972"/>
          </a:xfrm>
          <a:prstGeom prst="rect">
            <a:avLst/>
          </a:prstGeom>
          <a:solidFill>
            <a:srgbClr val="CFC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5"/>
          <p:cNvSpPr/>
          <p:nvPr/>
        </p:nvSpPr>
        <p:spPr>
          <a:xfrm>
            <a:off x="685800" y="6419088"/>
            <a:ext cx="10817352" cy="10972"/>
          </a:xfrm>
          <a:prstGeom prst="rect">
            <a:avLst/>
          </a:prstGeom>
          <a:solidFill>
            <a:srgbClr val="CFC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56786287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871</Words>
  <Application>Microsoft Macintosh PowerPoint</Application>
  <DocSecurity>0</DocSecurity>
  <PresentationFormat>Widescreen</PresentationFormat>
  <Paragraphs>140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Aptos</vt:lpstr>
      <vt:lpstr>Georgia</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Valentin Diaconu</cp:lastModifiedBy>
  <cp:revision>1</cp:revision>
  <dcterms:created xsi:type="dcterms:W3CDTF">2026-10-11T17:10:06Z</dcterms:created>
  <dcterms:modified xsi:type="dcterms:W3CDTF">2026-10-11T17:58:29Z</dcterms:modified>
</cp:coreProperties>
</file>